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109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51760" y="502920"/>
            <a:ext cx="109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63440" y="502920"/>
            <a:ext cx="109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502920"/>
            <a:ext cx="109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502920"/>
            <a:ext cx="109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0" y="502920"/>
            <a:ext cx="10972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onsolas"/>
              </a:rPr>
              <a:t>SMART INDIA HACKATHON 2026  •  NTRO  •  PROBLEM STATEMENT SIH26162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Segoe UI"/>
              </a:rPr>
              <a:t>AeroThermal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CBD5E1"/>
                </a:solidFill>
                <a:latin typeface="Segoe UI"/>
              </a:rPr>
              <a:t>AI-Based Detection &amp; Classification of Industrial Fires and</a:t>
            </a:r>
          </a:p>
          <a:p>
            <a:pPr algn="l">
              <a:lnSpc>
                <a:spcPct val="115000"/>
              </a:lnSpc>
            </a:pPr>
            <a:r>
              <a:rPr sz="2400" b="0">
                <a:solidFill>
                  <a:srgbClr val="CBD5E1"/>
                </a:solidFill>
                <a:latin typeface="Segoe UI"/>
              </a:rPr>
              <a:t>Persistent Thermal Sources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23944"/>
            <a:ext cx="214884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onsolas"/>
              </a:rPr>
              <a:t>NASA FIRMS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069080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4123944"/>
            <a:ext cx="214884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onsolas"/>
              </a:rPr>
              <a:t>OSM + WORLDCOVER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4069080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123944"/>
            <a:ext cx="214884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onsolas"/>
              </a:rPr>
              <a:t>TEMPORAL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4069080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4123944"/>
            <a:ext cx="214884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onsolas"/>
              </a:rPr>
              <a:t>GIS OVERLAY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92040"/>
            <a:ext cx="10972800" cy="109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2064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Team Name: [Your Team]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1. [Lead] Full-Stack &amp; Geospatial   2. [Name] ML / Classification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3. [Name] GIS &amp; Mapping   4. [Name] Backend &amp; APIs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4A3B8"/>
                </a:solidFill>
                <a:latin typeface="Segoe UI"/>
              </a:rPr>
              <a:t>5. [Name] Frontend &amp; UX   6. [Name] Pitch &amp;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120640"/>
            <a:ext cx="4023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4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LIVE PLATFORM</a:t>
            </a:r>
          </a:p>
          <a:p>
            <a:pPr algn="r">
              <a:lnSpc>
                <a:spcPct val="14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sih-thermal-intel.vercel.app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Consolas"/>
              </a:rPr>
              <a:t>THE OPERATIONAL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1B33"/>
                </a:solidFill>
                <a:latin typeface="Segoe UI"/>
              </a:rPr>
              <a:t>To a satellite, every fire is just a glowing pixel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onsola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B33"/>
                </a:solidFill>
                <a:latin typeface="Consolas"/>
              </a:rPr>
              <a:t>WHAT FIRMS GIVES US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89204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350">
                <a:solidFill>
                  <a:srgbClr val="1E293B"/>
                </a:solidFill>
                <a:latin typeface="Segoe UI"/>
              </a:rPr>
              <a:t>NASA FIRMS detects thousands of thermal anomalies across India daily (VIIRS 375m / MODIS 1km).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350">
                <a:solidFill>
                  <a:srgbClr val="1E293B"/>
                </a:solidFill>
                <a:latin typeface="Segoe UI"/>
              </a:rPr>
              <a:t>It reports WHERE and HOW HOT — never WHAT: a refinery flare, a stubble fire, a wildfire, or an illegal kiln look identical.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350">
                <a:solidFill>
                  <a:srgbClr val="1E293B"/>
                </a:solidFill>
                <a:latin typeface="Segoe UI"/>
              </a:rPr>
              <a:t>Responders waste hours on false alarms; clandestine industrial activity goes unnoticed.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350">
                <a:solidFill>
                  <a:srgbClr val="1E293B"/>
                </a:solidFill>
                <a:latin typeface="Segoe UI"/>
              </a:rPr>
              <a:t>No industrial-vs-natural segregation exists in any current open system — this is the exact PS 26162 gap.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00200"/>
            <a:ext cx="525780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82296" cy="9692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190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DC2626"/>
                </a:solidFill>
                <a:latin typeface="Consolas"/>
              </a:rPr>
              <a:t>WILDFIRE?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719072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Misclassified → delayed NDRF response, forest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57400"/>
            <a:ext cx="160020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same pixel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734056"/>
            <a:ext cx="525780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734056"/>
            <a:ext cx="82296" cy="96926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28529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97316"/>
                </a:solidFill>
                <a:latin typeface="Consolas"/>
              </a:rPr>
              <a:t>GAS FLARE?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852928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False industrial alarm → wasted inspection crews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191256"/>
            <a:ext cx="160020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same pixel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67912"/>
            <a:ext cx="525780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867912"/>
            <a:ext cx="82296" cy="9692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3986784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Consolas"/>
              </a:rPr>
              <a:t>STUBBLE BURN?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986784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Seasonal smoke → city air-quality crisis misattributed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325112"/>
            <a:ext cx="160020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same pixel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001768"/>
            <a:ext cx="5257800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5001768"/>
            <a:ext cx="82296" cy="969264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12064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C2D12"/>
                </a:solidFill>
                <a:latin typeface="Consolas"/>
              </a:rPr>
              <a:t>CLANDESTINE?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51206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Unregistered plant → national-security blind spot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458968"/>
            <a:ext cx="160020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Consolas"/>
              </a:rPr>
              <a:t>same pixel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153912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B33"/>
                </a:solidFill>
                <a:latin typeface="Segoe UI"/>
              </a:rPr>
              <a:t>One thermal signature. Four completely different responses.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Consolas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1B33"/>
                </a:solidFill>
                <a:latin typeface="Segoe UI"/>
              </a:rPr>
              <a:t>From ambiguous heat pixels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onsola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onsolas"/>
              </a:rPr>
              <a:t>1. DETECT &amp;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233172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NASA FIRMS NRT feed: VIIRS SNPP / NOAA-20 (375m), MODIS (1km)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FRP, brightness temperature, confidence, pass timestamps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Live-key ingestion + curated scenario replay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2424" y="169164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92424" y="169164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7016" y="17922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onsolas"/>
              </a:rPr>
              <a:t>2. CONTEXTUALIZE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377440"/>
            <a:ext cx="233172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F97316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OpenStreetMap Overpass: refineries, flare stacks, power, mining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F97316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ESA WorldCover land-cover class per hotspot pixel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F97316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60-day persistence baseline for the exact 375m cell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69164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36208" y="169164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922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onsolas"/>
              </a:rPr>
              <a:t>3. CLASSIFY &amp;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377440"/>
            <a:ext cx="233172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DC2626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7-class taxonomy with confidence % and evidence panel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DC2626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Persistence separates stationary flares from transient fires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DC2626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Counter-evidence shown honestly for analyst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9992" y="1691640"/>
            <a:ext cx="26974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79992" y="1691640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179222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onsolas"/>
              </a:rPr>
              <a:t>4. ACT &amp; 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377440"/>
            <a:ext cx="2331720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GIS overlay with evidence dossiers per hotspot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Risk engine: population, highways, hospitals, downwind zone</a:t>
            </a:r>
          </a:p>
          <a:p>
            <a:pPr>
              <a:spcAft>
                <a:spcPts val="14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Incident lifecycle → agency dispatch → resolution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Consola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1B33"/>
                </a:solidFill>
                <a:latin typeface="Segoe UI"/>
              </a:rPr>
              <a:t>End-to-end pipeline — all free &amp; open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onsola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169164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377439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NASA FIRMS</a:t>
            </a:r>
          </a:p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VIIRS/MODIS NRT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12848" y="2560320"/>
            <a:ext cx="256032" cy="23774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2304" y="210312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32304" y="2103120"/>
            <a:ext cx="1691640" cy="12801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2377439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OSM OVERPASS</a:t>
            </a:r>
          </a:p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facilities &amp; land-use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42232" y="2560320"/>
            <a:ext cx="256032" cy="23774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61688" y="210312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1688" y="2103120"/>
            <a:ext cx="1691640" cy="12801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377439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ESA WORLDCOVER</a:t>
            </a:r>
          </a:p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land-cover class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71616" y="2560320"/>
            <a:ext cx="256032" cy="23774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91071" y="210312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1" y="2103120"/>
            <a:ext cx="1691640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3" y="2377439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PERSISTENCE ENGINE</a:t>
            </a:r>
          </a:p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60-day recurrence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001000" y="2560320"/>
            <a:ext cx="256032" cy="23774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0455" y="210312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0455" y="2103120"/>
            <a:ext cx="1691640" cy="12801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7" y="2377439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AI CLASSIFIER</a:t>
            </a:r>
          </a:p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7 classes + evidence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930384" y="2560320"/>
            <a:ext cx="256032" cy="237744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49839" y="210312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49839" y="2103120"/>
            <a:ext cx="1691640" cy="128016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22991" y="2377439"/>
            <a:ext cx="1554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GIS OVERLAY</a:t>
            </a:r>
          </a:p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E293B"/>
                </a:solidFill>
                <a:latin typeface="Segoe UI"/>
              </a:rPr>
              <a:t>Leaflet + dispatch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794760"/>
            <a:ext cx="11201400" cy="14173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97763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1B33"/>
                </a:solidFill>
                <a:latin typeface="Consolas"/>
              </a:rPr>
              <a:t>EVERY HOTSPOT CARRIES A FULL DOSSIER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315968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293B"/>
                </a:solidFill>
                <a:latin typeface="Segoe UI"/>
              </a:rPr>
              <a:t>FIRMS metrics (FRP 88.4 MW • 85°C • 22.358°N 69.831°E)  +  facility match (Jamnagar Refinery, 120 m)  +  persistence (80%, 48/60 passes)  +  land-cover (Built-up)  →  CLASSIFICATION: INDUSTRIAL GAS FLARE, 94% confidence, with recommended action routed to the right agency.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40680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4748B"/>
                </a:solidFill>
                <a:latin typeface="Segoe UI"/>
              </a:rPr>
              <a:t>Stack: Python stdlib server + REST API  •  Vercel serverless  •  Leaflet GIS  •  GeoJSON export  •  Zero paid services, zero API keys required for demo mode.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Consolas"/>
              </a:rPr>
              <a:t>LIVE PRODUCT — NTRO INTELLIGENCE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1B33"/>
                </a:solidFill>
                <a:latin typeface="Segoe UI"/>
              </a:rPr>
              <a:t>GIS overlay with evidence dossiers —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onsola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" y="1591056"/>
            <a:ext cx="7059168" cy="44942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ntro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949440" cy="39090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600699"/>
            <a:ext cx="6949440" cy="384048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82995"/>
            <a:ext cx="6675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onsolas"/>
              </a:rPr>
              <a:t>LIVE: Jamnagar refinery flare auto-classified, 94%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783080"/>
            <a:ext cx="3840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Real Leaflet map: hotspots colored by class with pop-up evidence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Pipeline runs FIRMS → OSM → persistence → WorldCover → class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Evidence dossier: facility match, distance, persistence %, land-cover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Live OSM toggle queries Overpass API in real time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5 operational Indian scenarios + live FIRMS-key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Consolas"/>
              </a:rPr>
              <a:t>CLASSIFICATION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1B33"/>
                </a:solidFill>
                <a:latin typeface="Segoe UI"/>
              </a:rPr>
              <a:t>Seven classes — persistence × context, not guesswork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onsola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27632"/>
            <a:ext cx="11109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27632"/>
            <a:ext cx="82296" cy="5486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73936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onsolas"/>
              </a:rPr>
              <a:t>INDUSTRIAL GAS FLARE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783080"/>
            <a:ext cx="374903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Persistent + inside refinery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783080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→ MoEFCC emission 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1773936"/>
            <a:ext cx="9144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onsolas"/>
              </a:rPr>
              <a:t>94%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267712"/>
            <a:ext cx="11109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267712"/>
            <a:ext cx="82296" cy="5486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14016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Consolas"/>
              </a:rPr>
              <a:t>POWER PLANT / COAL FIRE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423160"/>
            <a:ext cx="374903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Persistent + power-station tag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423160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→ Plant safety + utility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2414016"/>
            <a:ext cx="9144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Consolas"/>
              </a:rPr>
              <a:t>94%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07791"/>
            <a:ext cx="11109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07791"/>
            <a:ext cx="82296" cy="5486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054096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Consolas"/>
              </a:rPr>
              <a:t>STEEL / SMELTER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063239"/>
            <a:ext cx="374903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Persistent + metallurgical facility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063239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→ Pollution control 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3054096"/>
            <a:ext cx="9144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Consolas"/>
              </a:rPr>
              <a:t>94%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47872"/>
            <a:ext cx="11109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547872"/>
            <a:ext cx="82296" cy="5486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694176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Consolas"/>
              </a:rPr>
              <a:t>MINING / COAL STOCKYARD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703320"/>
            <a:ext cx="374903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Persistent + quarry land-cover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703320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→ Indian Bureau of Mines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3694176"/>
            <a:ext cx="9144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FBBF24"/>
                </a:solidFill>
                <a:latin typeface="Consolas"/>
              </a:rPr>
              <a:t>94%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187952"/>
            <a:ext cx="11109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187952"/>
            <a:ext cx="82296" cy="5486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334256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C2626"/>
                </a:solidFill>
                <a:latin typeface="Consolas"/>
              </a:rPr>
              <a:t>WILDFIRE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4343400"/>
            <a:ext cx="374903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High FRP + tree cover + episodic spread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343400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→ Forest Dept + NDRF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4334256"/>
            <a:ext cx="9144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DC2626"/>
                </a:solidFill>
                <a:latin typeface="Consolas"/>
              </a:rPr>
              <a:t>91%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828032"/>
            <a:ext cx="11109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828032"/>
            <a:ext cx="82296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974336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Consolas"/>
              </a:rPr>
              <a:t>STUBBLE BURNING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4983480"/>
            <a:ext cx="374903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Transient cluster + cropland + season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983480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→ CAQM / CPCB alert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4974336"/>
            <a:ext cx="9144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Consolas"/>
              </a:rPr>
              <a:t>88%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468112"/>
            <a:ext cx="11109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468112"/>
            <a:ext cx="82296" cy="54864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614416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C2D12"/>
                </a:solidFill>
                <a:latin typeface="Consolas"/>
              </a:rPr>
              <a:t>CLANDESTINE ANOMALY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03320" y="5623560"/>
            <a:ext cx="3749039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E293B"/>
                </a:solidFill>
                <a:latin typeface="Segoe UI"/>
              </a:rPr>
              <a:t>High persistence + NO registered facility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5623560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Segoe UI"/>
              </a:rPr>
              <a:t>→ NTRO / UAV recon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5614416"/>
            <a:ext cx="9144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7C2D12"/>
                </a:solidFill>
                <a:latin typeface="Consolas"/>
              </a:rPr>
              <a:t>88%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Consolas"/>
              </a:rPr>
              <a:t>LIVE PRODUCT — GOVERNMENT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1B33"/>
                </a:solidFill>
                <a:latin typeface="Segoe UI"/>
              </a:rPr>
              <a:t>Incident lifecycle state machine &amp; dispatch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onsola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" y="1591056"/>
            <a:ext cx="5870448" cy="382562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mand_track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760720" cy="32404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4932045"/>
            <a:ext cx="5760720" cy="384048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014341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onsolas"/>
              </a:rPr>
              <a:t>LIVE: incidents NEW → INVESTIGATING → … → RESOLVED with authority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783080"/>
            <a:ext cx="384048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Six-stage state machine backed by REST API + server persistence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One-click dispatch routes to the correct jurisdiction (fire, GPCB, NDRF, DM)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Assets-at-risk engine: population, NH corridors, hospitals, downwind corridor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Citizen Reports Inbox: crowd reports cross-checked vs FIRMS before acting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Consolas"/>
              </a:rPr>
              <a:t>LIVE PRODUCT — CITIZEN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1B33"/>
                </a:solidFill>
                <a:latin typeface="Segoe UI"/>
              </a:rPr>
              <a:t>Citizen eyes + satellite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onsola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" y="1591056"/>
            <a:ext cx="7059168" cy="44942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itize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6949440" cy="39090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5600699"/>
            <a:ext cx="6949440" cy="384048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82995"/>
            <a:ext cx="6675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Consolas"/>
              </a:rPr>
              <a:t>LIVE: evacuation map — incident zone, safe shelter, NH-55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783080"/>
            <a:ext cx="384048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Multilingual portal (English / Hindi / Odia) with SOS escalation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Crowdsourced smoke/fire reports with GPS attach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Reports land in the Command inbox for FIRMS cross-check</a:t>
            </a:r>
          </a:p>
          <a:p>
            <a:pPr>
              <a:spcAft>
                <a:spcPts val="9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•  </a:t>
            </a:r>
            <a:r>
              <a:rPr sz="1250">
                <a:solidFill>
                  <a:srgbClr val="1E293B"/>
                </a:solidFill>
                <a:latin typeface="Segoe UI"/>
              </a:rPr>
              <a:t>Offline SMS fallback: HELP &lt;PINCODE&gt; → 1078 (zero-data ready)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Consolas"/>
              </a:rPr>
              <a:t>NATIONAL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1B33"/>
                </a:solidFill>
                <a:latin typeface="Segoe UI"/>
              </a:rPr>
              <a:t>Value for every PS stakeholder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onsola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6974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2697480" cy="82296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B33"/>
                </a:solidFill>
                <a:latin typeface="Consolas"/>
              </a:rPr>
              <a:t>NTRO &amp; DEFENCE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33172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300" b="1">
                <a:solidFill>
                  <a:srgbClr val="0B1B33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Clandestine thermal facility flagging in non-industrial zones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0B1B33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Persistent-source monitoring grid for critical infrastructure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2424" y="1691640"/>
            <a:ext cx="26974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2424" y="1691640"/>
            <a:ext cx="2697480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192024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DC2626"/>
                </a:solidFill>
                <a:latin typeface="Consolas"/>
              </a:rPr>
              <a:t>DISASTER MGMT (NDRF/SDMA)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514600"/>
            <a:ext cx="233172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300" b="1">
                <a:solidFill>
                  <a:srgbClr val="DC2626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Wildfire alerts within one satellite pass (~15 min)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DC2626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Assets-at-risk + downwind corridor pre-computed for responders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691640"/>
            <a:ext cx="26974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691640"/>
            <a:ext cx="2697480" cy="8229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92024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563EB"/>
                </a:solidFill>
                <a:latin typeface="Consolas"/>
              </a:rPr>
              <a:t>AIR QUALITY (CAQM/CPCB)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14600"/>
            <a:ext cx="233172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Stubble-burn clusters separated from industrial flares — no false industrial blame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Season-adjusted seasonal burning statistics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79992" y="1691640"/>
            <a:ext cx="2697480" cy="2834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79992" y="1691640"/>
            <a:ext cx="2697480" cy="8229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2872" y="192024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59669"/>
                </a:solidFill>
                <a:latin typeface="Consolas"/>
              </a:rPr>
              <a:t>ENVIRONMENT (MoEFCC)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514600"/>
            <a:ext cx="233172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Automatic flare-recurrence logs vs permits for every registered plant</a:t>
            </a:r>
          </a:p>
          <a:p>
            <a:pPr>
              <a:spcAft>
                <a:spcPts val="1600"/>
              </a:spcAft>
            </a:pPr>
            <a:r>
              <a:rPr sz="1300" b="1">
                <a:solidFill>
                  <a:srgbClr val="059669"/>
                </a:solidFill>
                <a:latin typeface="Segoe UI"/>
              </a:rPr>
              <a:t>—  </a:t>
            </a:r>
            <a:r>
              <a:rPr sz="1300">
                <a:solidFill>
                  <a:srgbClr val="1E293B"/>
                </a:solidFill>
                <a:latin typeface="Segoe UI"/>
              </a:rPr>
              <a:t>Audit-ready evidence trail from satellite to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126480"/>
            <a:ext cx="11109960" cy="457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227064"/>
            <a:ext cx="11109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B1B33"/>
                </a:solidFill>
                <a:latin typeface="Segoe UI"/>
              </a:rPr>
              <a:t>Zero-cost open data  •  Deploys anywhere  •  Works today at sih-thermal-intel.vercel.app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Consolas"/>
              </a:rPr>
              <a:t>SCIENTIFIC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1B33"/>
                </a:solidFill>
                <a:latin typeface="Segoe UI"/>
              </a:rPr>
              <a:t>What we prove — and what we honestly cannot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onsola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59669"/>
                </a:solidFill>
                <a:latin typeface="Consolas"/>
              </a:rPr>
              <a:t>✔  SCIENTIFICALLY PROVEN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89204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059669"/>
                </a:solidFill>
                <a:latin typeface="Segoe UI"/>
              </a:rPr>
              <a:t>✔  </a:t>
            </a:r>
            <a:r>
              <a:rPr sz="1250">
                <a:solidFill>
                  <a:srgbClr val="1E293B"/>
                </a:solidFill>
                <a:latin typeface="Segoe UI"/>
              </a:rPr>
              <a:t>Temporal persistence cleanly separates stationary flares from transient fires (48/60 vs 1-2/60 passes).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59669"/>
                </a:solidFill>
                <a:latin typeface="Segoe UI"/>
              </a:rPr>
              <a:t>✔  </a:t>
            </a:r>
            <a:r>
              <a:rPr sz="1250">
                <a:solidFill>
                  <a:srgbClr val="1E293B"/>
                </a:solidFill>
                <a:latin typeface="Segoe UI"/>
              </a:rPr>
              <a:t>Facility + land-cover context resolves flare vs kiln vs wildfire at district scale.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59669"/>
                </a:solidFill>
                <a:latin typeface="Segoe UI"/>
              </a:rPr>
              <a:t>✔  </a:t>
            </a:r>
            <a:r>
              <a:rPr sz="1250">
                <a:solidFill>
                  <a:srgbClr val="1E293B"/>
                </a:solidFill>
                <a:latin typeface="Segoe UI"/>
              </a:rPr>
              <a:t>Every classification ships with evidence AND counter-evidence for analyst verification.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059669"/>
                </a:solidFill>
                <a:latin typeface="Segoe UI"/>
              </a:rPr>
              <a:t>✔  </a:t>
            </a:r>
            <a:r>
              <a:rPr sz="1250">
                <a:solidFill>
                  <a:srgbClr val="1E293B"/>
                </a:solidFill>
                <a:latin typeface="Segoe UI"/>
              </a:rPr>
              <a:t>Deterministic, explainable rules — no black box, auditable by NTRO.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257800" cy="448056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874519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97316"/>
                </a:solidFill>
                <a:latin typeface="Consolas"/>
              </a:rPr>
              <a:t>⚠  HONEST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331720"/>
            <a:ext cx="466344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⚠  </a:t>
            </a:r>
            <a:r>
              <a:rPr sz="1250">
                <a:solidFill>
                  <a:srgbClr val="1E293B"/>
                </a:solidFill>
                <a:latin typeface="Segoe UI"/>
              </a:rPr>
              <a:t>VIIRS resolution ceiling (375m–1km): exact facility attribution is probabilistic in dense industrial clusters.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⚠  </a:t>
            </a:r>
            <a:r>
              <a:rPr sz="1250">
                <a:solidFill>
                  <a:srgbClr val="1E293B"/>
                </a:solidFill>
                <a:latin typeface="Segoe UI"/>
              </a:rPr>
              <a:t>Ground-truth labels are scarce; land-cover is used as validation proxy.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⚠  </a:t>
            </a:r>
            <a:r>
              <a:rPr sz="1250">
                <a:solidFill>
                  <a:srgbClr val="1E293B"/>
                </a:solidFill>
                <a:latin typeface="Segoe UI"/>
              </a:rPr>
              <a:t>Fires co-locating with normal flares (refinery fire vs routine flare) need optical confirmation (Sentinel-2 on roadmap).</a:t>
            </a:r>
          </a:p>
          <a:p>
            <a:pPr>
              <a:spcAft>
                <a:spcPts val="1000"/>
              </a:spcAft>
            </a:pPr>
            <a:r>
              <a:rPr sz="1250" b="1">
                <a:solidFill>
                  <a:srgbClr val="F97316"/>
                </a:solidFill>
                <a:latin typeface="Segoe UI"/>
              </a:rPr>
              <a:t>⚠  </a:t>
            </a:r>
            <a:r>
              <a:rPr sz="1250">
                <a:solidFill>
                  <a:srgbClr val="1E293B"/>
                </a:solidFill>
                <a:latin typeface="Segoe UI"/>
              </a:rPr>
              <a:t>Demo data: curated scenarios + live FIRMS; persistence archive grows with each pass.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97316"/>
                </a:solidFill>
                <a:latin typeface="Consolas"/>
              </a:rPr>
              <a:t>DEPLOYMENT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1B33"/>
                </a:solidFill>
                <a:latin typeface="Segoe UI"/>
              </a:rPr>
              <a:t>From working MVP today to national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Consola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89888"/>
            <a:ext cx="1005840" cy="4114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9222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onsolas"/>
              </a:rPr>
              <a:t>PHASE 1 — DONE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77440"/>
            <a:ext cx="320040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50" b="1">
                <a:solidFill>
                  <a:srgbClr val="059669"/>
                </a:solidFill>
                <a:latin typeface="Segoe UI"/>
              </a:rPr>
              <a:t>—  </a:t>
            </a:r>
            <a:r>
              <a:rPr sz="1150">
                <a:solidFill>
                  <a:srgbClr val="1E293B"/>
                </a:solidFill>
                <a:latin typeface="Segoe UI"/>
              </a:rPr>
              <a:t>Full classification pipeline + 7-class taxonomy (live)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059669"/>
                </a:solidFill>
                <a:latin typeface="Segoe UI"/>
              </a:rPr>
              <a:t>—  </a:t>
            </a:r>
            <a:r>
              <a:rPr sz="1150">
                <a:solidFill>
                  <a:srgbClr val="1E293B"/>
                </a:solidFill>
                <a:latin typeface="Segoe UI"/>
              </a:rPr>
              <a:t>3-portal platform on Vercel with server persistence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059669"/>
                </a:solidFill>
                <a:latin typeface="Segoe UI"/>
              </a:rPr>
              <a:t>—  </a:t>
            </a:r>
            <a:r>
              <a:rPr sz="1150">
                <a:solidFill>
                  <a:srgbClr val="1E293B"/>
                </a:solidFill>
                <a:latin typeface="Segoe UI"/>
              </a:rPr>
              <a:t>Live FIRMS key ingestion + Overpass + WorldCover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059669"/>
                </a:solidFill>
                <a:latin typeface="Segoe UI"/>
              </a:rPr>
              <a:t>—  </a:t>
            </a:r>
            <a:r>
              <a:rPr sz="1150">
                <a:solidFill>
                  <a:srgbClr val="1E293B"/>
                </a:solidFill>
                <a:latin typeface="Segoe UI"/>
              </a:rPr>
              <a:t>Incident lifecycle, dispatch, citizen reporting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9164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15968" y="169164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9222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onsolas"/>
              </a:rPr>
              <a:t>PHASE 2 — 6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377440"/>
            <a:ext cx="320040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50" b="1">
                <a:solidFill>
                  <a:srgbClr val="F97316"/>
                </a:solidFill>
                <a:latin typeface="Segoe UI"/>
              </a:rPr>
              <a:t>—  </a:t>
            </a:r>
            <a:r>
              <a:rPr sz="1150">
                <a:solidFill>
                  <a:srgbClr val="1E293B"/>
                </a:solidFill>
                <a:latin typeface="Segoe UI"/>
              </a:rPr>
              <a:t>Sentinel-2 20m SWIR optical validation layer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F97316"/>
                </a:solidFill>
                <a:latin typeface="Segoe UI"/>
              </a:rPr>
              <a:t>—  </a:t>
            </a:r>
            <a:r>
              <a:rPr sz="1150">
                <a:solidFill>
                  <a:srgbClr val="1E293B"/>
                </a:solidFill>
                <a:latin typeface="Segoe UI"/>
              </a:rPr>
              <a:t>UAV reconnaissance tasking for clandestine flags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F97316"/>
                </a:solidFill>
                <a:latin typeface="Segoe UI"/>
              </a:rPr>
              <a:t>—  </a:t>
            </a:r>
            <a:r>
              <a:rPr sz="1150">
                <a:solidFill>
                  <a:srgbClr val="1E293B"/>
                </a:solidFill>
                <a:latin typeface="Segoe UI"/>
              </a:rPr>
              <a:t>PostGIS storage + multi-tenant agency accounts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F97316"/>
                </a:solidFill>
                <a:latin typeface="Segoe UI"/>
              </a:rPr>
              <a:t>—  </a:t>
            </a:r>
            <a:r>
              <a:rPr sz="1150">
                <a:solidFill>
                  <a:srgbClr val="1E293B"/>
                </a:solidFill>
                <a:latin typeface="Segoe UI"/>
              </a:rPr>
              <a:t>WhatsApp/SMS alert gateway for district officers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69164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83296" y="169164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5" y="179222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Consolas"/>
              </a:rPr>
              <a:t>PHASE 3 — NATIONAL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377440"/>
            <a:ext cx="320040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150" b="1">
                <a:solidFill>
                  <a:srgbClr val="0B1B33"/>
                </a:solidFill>
                <a:latin typeface="Segoe UI"/>
              </a:rPr>
              <a:t>—  </a:t>
            </a:r>
            <a:r>
              <a:rPr sz="1150">
                <a:solidFill>
                  <a:srgbClr val="1E293B"/>
                </a:solidFill>
                <a:latin typeface="Segoe UI"/>
              </a:rPr>
              <a:t>24×7 national thermal defence surveillance grid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0B1B33"/>
                </a:solidFill>
                <a:latin typeface="Segoe UI"/>
              </a:rPr>
              <a:t>—  </a:t>
            </a:r>
            <a:r>
              <a:rPr sz="1150">
                <a:solidFill>
                  <a:srgbClr val="1E293B"/>
                </a:solidFill>
                <a:latin typeface="Segoe UI"/>
              </a:rPr>
              <a:t>Direct integration: NDRF, FSI, CPCB, state SDMA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0B1B33"/>
                </a:solidFill>
                <a:latin typeface="Segoe UI"/>
              </a:rPr>
              <a:t>—  </a:t>
            </a:r>
            <a:r>
              <a:rPr sz="1150">
                <a:solidFill>
                  <a:srgbClr val="1E293B"/>
                </a:solidFill>
                <a:latin typeface="Segoe UI"/>
              </a:rPr>
              <a:t>Predictive fire-risk modelling from persistence trends</a:t>
            </a:r>
          </a:p>
          <a:p>
            <a:pPr>
              <a:spcAft>
                <a:spcPts val="900"/>
              </a:spcAft>
            </a:pPr>
            <a:r>
              <a:rPr sz="1150" b="1">
                <a:solidFill>
                  <a:srgbClr val="0B1B33"/>
                </a:solidFill>
                <a:latin typeface="Segoe UI"/>
              </a:rPr>
              <a:t>—  </a:t>
            </a:r>
            <a:r>
              <a:rPr sz="1150">
                <a:solidFill>
                  <a:srgbClr val="1E293B"/>
                </a:solidFill>
                <a:latin typeface="Segoe UI"/>
              </a:rPr>
              <a:t>On-prem deployment for NTRO classified networks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97316"/>
                </a:solidFill>
                <a:latin typeface="Consolas"/>
              </a:rPr>
              <a:t>WHY AEROTHERMAL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Not a slide-ware prototype.</a:t>
            </a:r>
          </a:p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Segoe UI"/>
              </a:rPr>
              <a:t>A working national platform — live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onsolas"/>
              </a:rPr>
              <a:t>DELIVERABLE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33756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BD5E1"/>
                </a:solidFill>
                <a:latin typeface="Segoe UI"/>
              </a:rPr>
              <a:t>Industrial fires segregated from forest/agricultural fires with explainable evidence — exactly as the PS demands.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onsolas"/>
              </a:rPr>
              <a:t>DELIVERABLE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20624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BD5E1"/>
                </a:solidFill>
                <a:latin typeface="Segoe UI"/>
              </a:rPr>
              <a:t>GIS solution: classified hotspots as a live map overlay, with storage, dispatch and monitoring built 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97316"/>
                </a:solidFill>
                <a:latin typeface="Consolas"/>
              </a:rPr>
              <a:t>THE KILLER 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0749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CBD5E1"/>
                </a:solidFill>
                <a:latin typeface="Segoe UI"/>
              </a:rPr>
              <a:t>Persistence-based clandestine detection — thermal infrastructure that doesn't officially exist, flagged for NTRO.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897880"/>
            <a:ext cx="10972800" cy="10972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onsolas"/>
              </a:rPr>
              <a:t>Live demo:  sih-thermal-intel.vercel.app   •   NASA FIRMS   •   OpenStreetMap   •   ESA WorldCover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