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 Italics" charset="1" panose="02020703060505090304"/>
      <p:regular r:id="rId12"/>
    </p:embeddedFont>
    <p:embeddedFont>
      <p:font typeface="Times New Roman" charset="1" panose="02020603050405020304"/>
      <p:regular r:id="rId13"/>
    </p:embeddedFont>
    <p:embeddedFont>
      <p:font typeface="Arial" charset="1" panose="020B0604020202020204"/>
      <p:regular r:id="rId14"/>
    </p:embeddedFont>
    <p:embeddedFont>
      <p:font typeface="Arial Bold Italics" charset="1" panose="020B0704020202090204"/>
      <p:regular r:id="rId15"/>
    </p:embeddedFont>
    <p:embeddedFont>
      <p:font typeface="Times New Roman Bold" charset="1" panose="02020803070505020304"/>
      <p:regular r:id="rId19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notesSlide" Target="notesSlides/notesSlide3.xml"/><Relationship Id="rId25" Type="http://schemas.openxmlformats.org/officeDocument/2006/relationships/notesSlide" Target="notesSlides/notesSlide4.xml"/><Relationship Id="rId26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.jpeg"/><Relationship Id="rId8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hyperlink" Target="https://sih-thermal-intel.vercel.app" TargetMode="External"/><Relationship Id="rId6" Type="http://schemas.openxmlformats.org/officeDocument/2006/relationships/hyperlink" Target="https://firms.modaps.eosdis.nasa.gov" TargetMode="External"/><Relationship Id="rId7" Type="http://schemas.openxmlformats.org/officeDocument/2006/relationships/hyperlink" Target="https://firms.modaps.eosdis.nasa.gov" TargetMode="External"/><Relationship Id="rId8" Type="http://schemas.openxmlformats.org/officeDocument/2006/relationships/hyperlink" Target="https://firms.modaps.eosdis.nasa.gov" TargetMode="External"/><Relationship Id="rId9" Type="http://schemas.openxmlformats.org/officeDocument/2006/relationships/hyperlink" Target="https://firms.modaps.eosdis.nasa.gov" TargetMode="External"/><Relationship Id="rId10" Type="http://schemas.openxmlformats.org/officeDocument/2006/relationships/hyperlink" Target="https://firms.modaps.eosdis.nasa.gov" TargetMode="External"/><Relationship Id="rId11" Type="http://schemas.openxmlformats.org/officeDocument/2006/relationships/hyperlink" Target="https://firms.modaps.eosdis.nasa.gov" TargetMode="External"/><Relationship Id="rId12" Type="http://schemas.openxmlformats.org/officeDocument/2006/relationships/hyperlink" Target="https://firms.modaps.eosdis.nasa.gov" TargetMode="External"/><Relationship Id="rId13" Type="http://schemas.openxmlformats.org/officeDocument/2006/relationships/hyperlink" Target="https://firms.modaps.eosdis.nasa.gov" TargetMode="External"/><Relationship Id="rId14" Type="http://schemas.openxmlformats.org/officeDocument/2006/relationships/hyperlink" Target="https://firms.modaps.eosdis.nasa.gov" TargetMode="External"/><Relationship Id="rId15" Type="http://schemas.openxmlformats.org/officeDocument/2006/relationships/hyperlink" Target="https://firms.modaps.eosdis.nasa.gov" TargetMode="External"/><Relationship Id="rId16" Type="http://schemas.openxmlformats.org/officeDocument/2006/relationships/hyperlink" Target="https://firms.modaps.eosdis.nasa.gov" TargetMode="External"/><Relationship Id="rId17" Type="http://schemas.openxmlformats.org/officeDocument/2006/relationships/hyperlink" Target="https://firms.modaps.eosdis.nasa.gov" TargetMode="External"/><Relationship Id="rId18" Type="http://schemas.openxmlformats.org/officeDocument/2006/relationships/hyperlink" Target="https://firms.modaps.eosdis.nasa.gov" TargetMode="External"/><Relationship Id="rId19" Type="http://schemas.openxmlformats.org/officeDocument/2006/relationships/hyperlink" Target="https://firms.modaps.eosdis.nasa.gov" TargetMode="External"/><Relationship Id="rId20" Type="http://schemas.openxmlformats.org/officeDocument/2006/relationships/hyperlink" Target="https://firms.modaps.eosdis.nasa.gov" TargetMode="External"/><Relationship Id="rId21" Type="http://schemas.openxmlformats.org/officeDocument/2006/relationships/hyperlink" Target="https://firms.modaps.eosdis.nasa.gov" TargetMode="External"/><Relationship Id="rId22" Type="http://schemas.openxmlformats.org/officeDocument/2006/relationships/hyperlink" Target="https://firms.modaps.eosdis.nasa.gov" TargetMode="External"/><Relationship Id="rId23" Type="http://schemas.openxmlformats.org/officeDocument/2006/relationships/hyperlink" Target="https://firms.modaps.eosdis.nasa.gov" TargetMode="External"/><Relationship Id="rId24" Type="http://schemas.openxmlformats.org/officeDocument/2006/relationships/hyperlink" Target="https://firms.modaps.eosdis.nasa.gov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8991" y="159940"/>
            <a:ext cx="13948998" cy="10461748"/>
          </a:xfrm>
          <a:custGeom>
            <a:avLst/>
            <a:gdLst/>
            <a:ahLst/>
            <a:cxnLst/>
            <a:rect r="r" b="b" t="t" l="l"/>
            <a:pathLst>
              <a:path h="10461748" w="13948998">
                <a:moveTo>
                  <a:pt x="0" y="0"/>
                </a:moveTo>
                <a:lnTo>
                  <a:pt x="13948998" y="0"/>
                </a:lnTo>
                <a:lnTo>
                  <a:pt x="13948998" y="10461749"/>
                </a:lnTo>
                <a:lnTo>
                  <a:pt x="0" y="1046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0907" y="615609"/>
            <a:ext cx="3115276" cy="1329804"/>
            <a:chOff x="0" y="0"/>
            <a:chExt cx="2722880" cy="1162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816271" y="615609"/>
            <a:ext cx="1780822" cy="1562288"/>
            <a:chOff x="0" y="0"/>
            <a:chExt cx="1556512" cy="1365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508991" y="1979299"/>
            <a:ext cx="3843036" cy="85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2"/>
              </a:lnSpc>
              <a:defRPr b="1"/>
            </a:pPr>
            <a:r>
              <a:t>FireSense | Thermal Anomaly &amp; Disaster Command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73513" y="692096"/>
            <a:ext cx="7466052" cy="107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4"/>
              </a:lnSpc>
            </a:pP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TEKATHON-5.0-</a:t>
            </a:r>
            <a:r>
              <a:rPr lang="en-US" sz="6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3291840"/>
            <a:ext cx="8778240" cy="621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1650" b="1"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• Problem Statement ID:</a:t>
            </a:r>
            <a:r>
              <a:rPr sz="1550" b="0">
                <a:solidFill>
                  <a:srgbClr val="334155"/>
                </a:solidFill>
                <a:latin typeface="Segoe UI"/>
              </a:rPr>
              <a:t> SIH26162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• Problem Statement Title:</a:t>
            </a:r>
            <a:r>
              <a:rPr sz="1550" b="0">
                <a:solidFill>
                  <a:srgbClr val="334155"/>
                </a:solidFill>
                <a:latin typeface="Segoe UI"/>
              </a:rPr>
              <a:t> Real-time Thermal Anomaly Detection &amp; Disaster Intelligence Platform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• Theme:</a:t>
            </a:r>
            <a:r>
              <a:rPr sz="1550" b="0">
                <a:solidFill>
                  <a:srgbClr val="334155"/>
                </a:solidFill>
                <a:latin typeface="Segoe UI"/>
              </a:rPr>
              <a:t> Disaster Management &amp; Space Technology (NTRO / ISRO)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• Category:</a:t>
            </a:r>
            <a:r>
              <a:rPr sz="1550" b="0">
                <a:solidFill>
                  <a:srgbClr val="334155"/>
                </a:solidFill>
                <a:latin typeface="Segoe UI"/>
              </a:rPr>
              <a:t> Software Edition  |  Project: FireSense (AeroThermal)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• Target Stakeholders:</a:t>
            </a:r>
            <a:r>
              <a:rPr sz="1550" b="0">
                <a:solidFill>
                  <a:srgbClr val="334155"/>
                </a:solidFill>
                <a:latin typeface="Segoe UI"/>
              </a:rPr>
              <a:t> NTRO Space Analysts, State Emergency Operations (SEOC), NDRF Battalions, and At-Risk Citizens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• Live Working Prototype:</a:t>
            </a:r>
            <a:r>
              <a:rPr sz="1550" b="0">
                <a:solidFill>
                  <a:srgbClr val="334155"/>
                </a:solidFill>
                <a:latin typeface="Segoe UI"/>
              </a:rPr>
              <a:t> https://sih-thermal-intel.vercel.app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• Key Architectural Distinction:</a:t>
            </a:r>
            <a:r>
              <a:rPr sz="1550" b="0">
                <a:solidFill>
                  <a:srgbClr val="334155"/>
                </a:solidFill>
                <a:latin typeface="Segoe UI"/>
              </a:rPr>
              <a:t> Satellite AI + Cadastre Flare Suppression + Zero-Data Offline SMS Evacuation (1078)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3291840"/>
            <a:ext cx="7132320" cy="6217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bIns="365760"/>
          <a:lstStyle/>
          <a:p>
            <a:pPr algn="ctr">
              <a:spcAft>
                <a:spcPts val="10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rPr sz="1800" b="1">
                <a:solidFill>
                  <a:srgbClr val="2563EB"/>
                </a:solidFill>
                <a:latin typeface="Segoe UI"/>
              </a:rPr>
              <a:t>EXECUTIVE ARCHITECTURE OVERVIEW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🛰️ Space Telemetry Ingestion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Direct automated 3-hour orbital passes from NASA FIRMS VIIRS (375m) and MODIS (1km) across all Indian states.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🧠 AI Multi-Class Classification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Classifies thermal signatures into Wildfire, Industrial, Gas Flare, Stubble, or Illegal Dump with 97.6% accuracy.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🛡️ Cadastre False-Alarm Filter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Cross-references licensed industrial coordinates to eliminate false-alarm dispatches (&gt;85% automated confidence threshold).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⚡ Tri-Portal Action Engine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Instant handoff between NTRO Satellite Intelligence, Government Command Center, and Citizen Safety Services.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📶 Zero-Data Offline Resilience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Automated cellular SMS broadcast (1078) and vernacular safe routing (Hindi/Odia/English) during tower failure.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39210" y="56265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 — Satellite-to-Ground Incident &amp; Disaster Response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585216"/>
                  </a:lnTo>
                  <a:cubicBezTo>
                    <a:pt x="11430000" y="665988"/>
                    <a:pt x="11364468" y="731520"/>
                    <a:pt x="1128369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430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→ Classify → Alert → Respond → Track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🔭 Detect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Classify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🚨 Alert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🚒 Respond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Track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58300" y="3634740"/>
            <a:ext cx="2720340" cy="2125980"/>
            <a:chOff x="0" y="0"/>
            <a:chExt cx="3627120" cy="2834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68028" y="3771900"/>
            <a:ext cx="2500884" cy="480060"/>
            <a:chOff x="0" y="0"/>
            <a:chExt cx="3334512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ROOM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92356" y="4526280"/>
            <a:ext cx="178308" cy="301752"/>
            <a:chOff x="0" y="0"/>
            <a:chExt cx="237744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184380" y="3634740"/>
            <a:ext cx="2720340" cy="2125980"/>
            <a:chOff x="0" y="0"/>
            <a:chExt cx="3627120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294108" y="3771900"/>
            <a:ext cx="2500884" cy="480060"/>
            <a:chOff x="0" y="0"/>
            <a:chExt cx="3334512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 STATION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918436" y="4526280"/>
            <a:ext cx="178308" cy="301752"/>
            <a:chOff x="0" y="0"/>
            <a:chExt cx="237744" cy="4023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10460" y="3634740"/>
            <a:ext cx="2720340" cy="2125980"/>
            <a:chOff x="0" y="0"/>
            <a:chExt cx="3627120" cy="2834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220188" y="3771900"/>
            <a:ext cx="2500884" cy="480060"/>
            <a:chOff x="0" y="0"/>
            <a:chExt cx="3334512" cy="640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FIELD TEAM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58300" y="5897880"/>
            <a:ext cx="8572500" cy="480060"/>
            <a:chOff x="0" y="0"/>
            <a:chExt cx="114300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1430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5A64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Live Status Sync — Control Room ⇄ Field Responder View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493776"/>
                  </a:lnTo>
                  <a:cubicBezTo>
                    <a:pt x="11430000" y="574548"/>
                    <a:pt x="11364468" y="640080"/>
                    <a:pt x="11283696" y="640080"/>
                  </a:cubicBezTo>
                  <a:lnTo>
                    <a:pt x="146304" y="640080"/>
                  </a:lnTo>
                  <a:cubicBezTo>
                    <a:pt x="65532" y="640080"/>
                    <a:pt x="0" y="574548"/>
                    <a:pt x="0" y="49377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4300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Demo Scenarios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43771" y="7128510"/>
            <a:ext cx="2101566" cy="1221429"/>
            <a:chOff x="0" y="0"/>
            <a:chExt cx="2718308" cy="1579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224284" y="7194883"/>
            <a:ext cx="1940541" cy="565549"/>
            <a:chOff x="0" y="0"/>
            <a:chExt cx="2510028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Similipal Forest Fire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24284" y="7703878"/>
            <a:ext cx="1940541" cy="565549"/>
            <a:chOff x="0" y="0"/>
            <a:chExt cx="2510028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WILDFIRE — 1,420 people at risk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395365" y="7128510"/>
            <a:ext cx="2101566" cy="1221429"/>
            <a:chOff x="0" y="0"/>
            <a:chExt cx="2718308" cy="15798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475877" y="7194883"/>
            <a:ext cx="1940541" cy="565549"/>
            <a:chOff x="0" y="0"/>
            <a:chExt cx="2510028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Jamnagar Refinery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475877" y="7703878"/>
            <a:ext cx="1940541" cy="565549"/>
            <a:chOff x="0" y="0"/>
            <a:chExt cx="2510028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FACTORY FLARE — zero threat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646958" y="7128510"/>
            <a:ext cx="2101566" cy="1221429"/>
            <a:chOff x="0" y="0"/>
            <a:chExt cx="2718308" cy="1579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3727470" y="7194883"/>
            <a:ext cx="1940541" cy="565549"/>
            <a:chOff x="0" y="0"/>
            <a:chExt cx="2510028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Punjab Farm Burning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727470" y="7703878"/>
            <a:ext cx="1940541" cy="565549"/>
            <a:chOff x="0" y="0"/>
            <a:chExt cx="2510028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CROP SMOKE — CAQM alert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898551" y="7128510"/>
            <a:ext cx="2101566" cy="1221429"/>
            <a:chOff x="0" y="0"/>
            <a:chExt cx="2718308" cy="15798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5979063" y="7194883"/>
            <a:ext cx="1940541" cy="565549"/>
            <a:chOff x="0" y="0"/>
            <a:chExt cx="2510028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Singrauli Hotspot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979063" y="7703878"/>
            <a:ext cx="1940541" cy="565549"/>
            <a:chOff x="0" y="0"/>
            <a:chExt cx="2510028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UNKNOWN — NTRO / drone check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397192" y="1645920"/>
            <a:ext cx="8595360" cy="246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26" indent="-160163" lvl="1">
              <a:lnSpc>
                <a:spcPct val="118000"/>
              </a:lnSpc>
              <a:spcAft>
                <a:spcPts val="800"/>
              </a:spcAft>
              <a:buFont typeface="Arial"/>
              <a:buChar char="•"/>
              <a:defRPr sz="1500"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• Automated Anomaly Classification: </a:t>
            </a:r>
            <a:r>
              <a:rPr sz="1450">
                <a:solidFill>
                  <a:srgbClr val="334155"/>
                </a:solidFill>
                <a:latin typeface="Segoe UI"/>
              </a:rPr>
              <a:t>Turns raw NASA FIRMS satellite hotspots into verified, actionable incidents — Wildfire, Industrial, Gas Flare, Crop Burning, or Illegal Dump.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• End-to-End Tri-Portal Architecture: </a:t>
            </a:r>
            <a:r>
              <a:rPr sz="1450">
                <a:solidFill>
                  <a:srgbClr val="334155"/>
                </a:solidFill>
                <a:latin typeface="Segoe UI"/>
              </a:rPr>
              <a:t>Seamless workflow: NTRO Intelligence (Satellite AI) ➔ Government Command (NDRF Battalion Dispatch) ➔ Citizen Services (Real-time Ground Safety).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• False-Alarm Suppression Engine: </a:t>
            </a:r>
            <a:r>
              <a:rPr sz="1450">
                <a:solidFill>
                  <a:srgbClr val="334155"/>
                </a:solidFill>
                <a:latin typeface="Segoe UI"/>
              </a:rPr>
              <a:t>Multi-pass repeat signal + National Industrial Cadastre matching filters routine flares with &gt;97% precision (&gt;85% auto-dispatch threshold).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Zero-Data Life Safety Protocol: </a:t>
            </a:r>
            <a:r>
              <a:rPr sz="1450">
                <a:solidFill>
                  <a:srgbClr val="334155"/>
                </a:solidFill>
                <a:latin typeface="Segoe UI"/>
              </a:rPr>
              <a:t>Autonomous offline SMS broadcast (1078) and multi-lingual safe evacuation routing (Hindi, Odia, English) when cellular towers fail.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9368028" y="4291965"/>
            <a:ext cx="250088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Aft>
                <a:spcPts val="400"/>
              </a:spcAft>
              <a:defRPr sz="1650" b="1">
                <a:solidFill>
                  <a:srgbClr val="0F172A"/>
                </a:solidFill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🛰️ NTRO Intelligence</a:t>
            </a:r>
          </a:p>
          <a:p>
            <a:pPr>
              <a:lnSpc>
                <a:spcPct val="115000"/>
              </a:lnSpc>
              <a:defRPr sz="1350">
                <a:solidFill>
                  <a:srgbClr val="334155"/>
                </a:solidFill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VIIRS/MODIS 375m orbital pass, 97.6% auto-classification, 91% AI confidence &amp; surface wind spread threat corridor.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2294108" y="4291965"/>
            <a:ext cx="250088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Aft>
                <a:spcPts val="400"/>
              </a:spcAft>
              <a:defRPr sz="1650" b="1">
                <a:solidFill>
                  <a:srgbClr val="0F172A"/>
                </a:solidFill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🏛️ Government Command</a:t>
            </a:r>
          </a:p>
          <a:p>
            <a:pPr>
              <a:lnSpc>
                <a:spcPct val="115000"/>
              </a:lnSpc>
              <a:defRPr sz="1350">
                <a:solidFill>
                  <a:srgbClr val="334155"/>
                </a:solidFill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Real-time situational awareness across 4 states, population-at-risk tracking, live NDRF resource bars &amp; 1-click dispatch.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5220188" y="4291965"/>
            <a:ext cx="250088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Aft>
                <a:spcPts val="400"/>
              </a:spcAft>
              <a:defRPr sz="1650" b="1">
                <a:solidFill>
                  <a:srgbClr val="0F172A"/>
                </a:solidFill>
                <a:latin typeface="Segoe UI"/>
              </a:defRPr>
            </a:pPr>
            <a:r>
              <a:rPr sz="1650" b="1">
                <a:solidFill>
                  <a:srgbClr val="0F172A"/>
                </a:solidFill>
                <a:latin typeface="Segoe UI"/>
              </a:rPr>
              <a:t>👥 Citizen Services</a:t>
            </a:r>
          </a:p>
          <a:p>
            <a:pPr>
              <a:lnSpc>
                <a:spcPct val="115000"/>
              </a:lnSpc>
              <a:defRPr sz="1350">
                <a:solidFill>
                  <a:srgbClr val="334155"/>
                </a:solidFill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Multi-lingual (English/Hindi/Odia), 1-tap SOS rescue triage, safe evacuation route guidance &amp; zero-data offline SMS 1078.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289574" y="3977640"/>
            <a:ext cx="7930991" cy="520065"/>
            <a:chOff x="0" y="0"/>
            <a:chExt cx="1115568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289574" y="3977640"/>
            <a:ext cx="7930991" cy="520065"/>
            <a:chOff x="0" y="0"/>
            <a:chExt cx="11155680" cy="7315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Website &amp; APP UI 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0" y="-55359"/>
            <a:ext cx="3115276" cy="1329804"/>
            <a:chOff x="0" y="0"/>
            <a:chExt cx="2722880" cy="116230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pic>
        <p:nvPicPr>
          <p:cNvPr id="123" name="Picture 122" descr="government_command_vi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" y="4297680"/>
            <a:ext cx="85039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156510" y="1850187"/>
            <a:ext cx="17479517" cy="18915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66040" y="2106532"/>
            <a:ext cx="12617532" cy="548640"/>
            <a:chOff x="0" y="0"/>
            <a:chExt cx="16823376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823378" cy="731520"/>
            </a:xfrm>
            <a:custGeom>
              <a:avLst/>
              <a:gdLst/>
              <a:ahLst/>
              <a:cxnLst/>
              <a:rect r="r" b="b" t="t" l="l"/>
              <a:pathLst>
                <a:path h="731520" w="16823378">
                  <a:moveTo>
                    <a:pt x="0" y="146304"/>
                  </a:moveTo>
                  <a:cubicBezTo>
                    <a:pt x="0" y="65532"/>
                    <a:pt x="47468" y="0"/>
                    <a:pt x="105974" y="0"/>
                  </a:cubicBezTo>
                  <a:lnTo>
                    <a:pt x="16717403" y="0"/>
                  </a:lnTo>
                  <a:cubicBezTo>
                    <a:pt x="16775909" y="0"/>
                    <a:pt x="16823378" y="65532"/>
                    <a:pt x="16823378" y="146304"/>
                  </a:cubicBezTo>
                  <a:lnTo>
                    <a:pt x="16823378" y="585216"/>
                  </a:lnTo>
                  <a:cubicBezTo>
                    <a:pt x="16823378" y="665988"/>
                    <a:pt x="16775909" y="731520"/>
                    <a:pt x="16717403" y="731520"/>
                  </a:cubicBezTo>
                  <a:lnTo>
                    <a:pt x="105974" y="731520"/>
                  </a:lnTo>
                  <a:cubicBezTo>
                    <a:pt x="47468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6040" y="2106532"/>
            <a:ext cx="7746469" cy="548640"/>
            <a:chOff x="0" y="0"/>
            <a:chExt cx="10328626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28626" cy="731520"/>
            </a:xfrm>
            <a:custGeom>
              <a:avLst/>
              <a:gdLst/>
              <a:ahLst/>
              <a:cxnLst/>
              <a:rect r="r" b="b" t="t" l="l"/>
              <a:pathLst>
                <a:path h="731520" w="10328626">
                  <a:moveTo>
                    <a:pt x="0" y="0"/>
                  </a:moveTo>
                  <a:lnTo>
                    <a:pt x="10328626" y="0"/>
                  </a:lnTo>
                  <a:lnTo>
                    <a:pt x="103286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-124867" b="-5686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32862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Scoring &amp; Confidence-Gated Alert Pipeline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91277" y="5353428"/>
            <a:ext cx="7169459" cy="685800"/>
            <a:chOff x="0" y="0"/>
            <a:chExt cx="9559279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59279" cy="914400"/>
            </a:xfrm>
            <a:custGeom>
              <a:avLst/>
              <a:gdLst/>
              <a:ahLst/>
              <a:cxnLst/>
              <a:rect r="r" b="b" t="t" l="l"/>
              <a:pathLst>
                <a:path h="914400" w="9559279">
                  <a:moveTo>
                    <a:pt x="0" y="146304"/>
                  </a:moveTo>
                  <a:cubicBezTo>
                    <a:pt x="0" y="65532"/>
                    <a:pt x="55249" y="0"/>
                    <a:pt x="123346" y="0"/>
                  </a:cubicBezTo>
                  <a:lnTo>
                    <a:pt x="9435933" y="0"/>
                  </a:lnTo>
                  <a:cubicBezTo>
                    <a:pt x="9504030" y="0"/>
                    <a:pt x="9559279" y="65532"/>
                    <a:pt x="9559279" y="146304"/>
                  </a:cubicBezTo>
                  <a:lnTo>
                    <a:pt x="9559279" y="768096"/>
                  </a:lnTo>
                  <a:cubicBezTo>
                    <a:pt x="9559279" y="848868"/>
                    <a:pt x="9504030" y="914400"/>
                    <a:pt x="9435933" y="914400"/>
                  </a:cubicBezTo>
                  <a:lnTo>
                    <a:pt x="123346" y="914400"/>
                  </a:lnTo>
                  <a:cubicBezTo>
                    <a:pt x="55249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259" y="5353428"/>
            <a:ext cx="7038922" cy="685800"/>
            <a:chOff x="0" y="0"/>
            <a:chExt cx="9385229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5229" cy="914400"/>
            </a:xfrm>
            <a:custGeom>
              <a:avLst/>
              <a:gdLst/>
              <a:ahLst/>
              <a:cxnLst/>
              <a:rect r="r" b="b" t="t" l="l"/>
              <a:pathLst>
                <a:path h="914400" w="9385229">
                  <a:moveTo>
                    <a:pt x="0" y="0"/>
                  </a:moveTo>
                  <a:lnTo>
                    <a:pt x="9385229" y="0"/>
                  </a:lnTo>
                  <a:lnTo>
                    <a:pt x="938522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20812" b="-1916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385229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 Gate: &gt;85% → Direct Fire-Brigade Alert · &lt;85% → Drone Verification First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78181" y="5353428"/>
            <a:ext cx="5757308" cy="685800"/>
            <a:chOff x="0" y="0"/>
            <a:chExt cx="7676411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76411" cy="914400"/>
            </a:xfrm>
            <a:custGeom>
              <a:avLst/>
              <a:gdLst/>
              <a:ahLst/>
              <a:cxnLst/>
              <a:rect r="r" b="b" t="t" l="l"/>
              <a:pathLst>
                <a:path h="914400" w="7676411">
                  <a:moveTo>
                    <a:pt x="0" y="146304"/>
                  </a:moveTo>
                  <a:cubicBezTo>
                    <a:pt x="0" y="65532"/>
                    <a:pt x="44366" y="0"/>
                    <a:pt x="99050" y="0"/>
                  </a:cubicBezTo>
                  <a:lnTo>
                    <a:pt x="7577361" y="0"/>
                  </a:lnTo>
                  <a:cubicBezTo>
                    <a:pt x="7632044" y="0"/>
                    <a:pt x="7676411" y="65532"/>
                    <a:pt x="7676411" y="146304"/>
                  </a:cubicBezTo>
                  <a:lnTo>
                    <a:pt x="7676411" y="768096"/>
                  </a:lnTo>
                  <a:cubicBezTo>
                    <a:pt x="7676411" y="848868"/>
                    <a:pt x="7632044" y="914400"/>
                    <a:pt x="7577361" y="914400"/>
                  </a:cubicBezTo>
                  <a:lnTo>
                    <a:pt x="99050" y="914400"/>
                  </a:lnTo>
                  <a:cubicBezTo>
                    <a:pt x="44366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078181" y="5353428"/>
            <a:ext cx="5757308" cy="685800"/>
            <a:chOff x="0" y="0"/>
            <a:chExt cx="7676411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76411" cy="914400"/>
            </a:xfrm>
            <a:custGeom>
              <a:avLst/>
              <a:gdLst/>
              <a:ahLst/>
              <a:cxnLst/>
              <a:rect r="r" b="b" t="t" l="l"/>
              <a:pathLst>
                <a:path h="914400" w="7676411">
                  <a:moveTo>
                    <a:pt x="0" y="0"/>
                  </a:moveTo>
                  <a:lnTo>
                    <a:pt x="7676411" y="0"/>
                  </a:lnTo>
                  <a:lnTo>
                    <a:pt x="767641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47706" b="-19161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676411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Persistence Check: Fire Frequency vs 60-Day Baseline (Anomaly Flag)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7770363"/>
            <a:ext cx="12450503" cy="392142"/>
            <a:chOff x="0" y="0"/>
            <a:chExt cx="2322576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0" y="7770363"/>
            <a:ext cx="12450503" cy="392142"/>
            <a:chOff x="0" y="0"/>
            <a:chExt cx="232257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0"/>
                  </a:moveTo>
                  <a:lnTo>
                    <a:pt x="23225761" y="0"/>
                  </a:lnTo>
                  <a:lnTo>
                    <a:pt x="23225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0" b="-56864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3225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377740" y="8243359"/>
            <a:ext cx="7146910" cy="1357841"/>
          </a:xfrm>
          <a:custGeom>
            <a:avLst/>
            <a:gdLst/>
            <a:ahLst/>
            <a:cxnLst/>
            <a:rect r="r" b="b" t="t" l="l"/>
            <a:pathLst>
              <a:path h="1357841" w="7146910">
                <a:moveTo>
                  <a:pt x="0" y="0"/>
                </a:moveTo>
                <a:lnTo>
                  <a:pt x="7146911" y="0"/>
                </a:lnTo>
                <a:lnTo>
                  <a:pt x="7146911" y="1357841"/>
                </a:lnTo>
                <a:lnTo>
                  <a:pt x="0" y="1357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7" r="0" b="-25765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-27144" y="2874247"/>
            <a:ext cx="2436908" cy="2383931"/>
            <a:chOff x="0" y="0"/>
            <a:chExt cx="4206240" cy="4114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7618" y="3637105"/>
            <a:ext cx="2267384" cy="423810"/>
            <a:chOff x="0" y="0"/>
            <a:chExt cx="3913632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Satellite Detect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420359" y="3960260"/>
            <a:ext cx="148334" cy="211905"/>
            <a:chOff x="0" y="0"/>
            <a:chExt cx="256032" cy="36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579287" y="2874247"/>
            <a:ext cx="2436908" cy="2383931"/>
            <a:chOff x="0" y="0"/>
            <a:chExt cx="4206240" cy="4114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543455" y="3033176"/>
            <a:ext cx="508572" cy="508572"/>
            <a:chOff x="0" y="0"/>
            <a:chExt cx="877824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543455" y="3033176"/>
            <a:ext cx="508572" cy="508572"/>
            <a:chOff x="0" y="0"/>
            <a:chExt cx="877824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C3A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664049" y="3637105"/>
            <a:ext cx="2267384" cy="423810"/>
            <a:chOff x="0" y="0"/>
            <a:chExt cx="3913632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 + Score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026790" y="3960260"/>
            <a:ext cx="148334" cy="211905"/>
            <a:chOff x="0" y="0"/>
            <a:chExt cx="256032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185719" y="2874247"/>
            <a:ext cx="2436908" cy="2383931"/>
            <a:chOff x="0" y="0"/>
            <a:chExt cx="4206240" cy="4114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149887" y="3033176"/>
            <a:ext cx="508572" cy="508572"/>
            <a:chOff x="0" y="0"/>
            <a:chExt cx="877824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49887" y="3033176"/>
            <a:ext cx="508572" cy="508572"/>
            <a:chOff x="0" y="0"/>
            <a:chExt cx="877824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270481" y="3637105"/>
            <a:ext cx="2267384" cy="423810"/>
            <a:chOff x="0" y="0"/>
            <a:chExt cx="3913632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Verify Confidence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633222" y="3960260"/>
            <a:ext cx="148334" cy="211905"/>
            <a:chOff x="0" y="0"/>
            <a:chExt cx="256032" cy="3657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792150" y="2874247"/>
            <a:ext cx="2436908" cy="2383931"/>
            <a:chOff x="0" y="0"/>
            <a:chExt cx="4206240" cy="4114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756318" y="3033176"/>
            <a:ext cx="508572" cy="508572"/>
            <a:chOff x="0" y="0"/>
            <a:chExt cx="877824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756318" y="3033176"/>
            <a:ext cx="508572" cy="508572"/>
            <a:chOff x="0" y="0"/>
            <a:chExt cx="877824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876912" y="3637105"/>
            <a:ext cx="2267384" cy="423810"/>
            <a:chOff x="0" y="0"/>
            <a:chExt cx="3913632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&amp; Spread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239653" y="3960260"/>
            <a:ext cx="148334" cy="211905"/>
            <a:chOff x="0" y="0"/>
            <a:chExt cx="256032" cy="3657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398582" y="2874247"/>
            <a:ext cx="2436908" cy="2383931"/>
            <a:chOff x="0" y="0"/>
            <a:chExt cx="4206240" cy="4114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362750" y="3033176"/>
            <a:ext cx="508572" cy="508572"/>
            <a:chOff x="0" y="0"/>
            <a:chExt cx="877824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1362750" y="3033176"/>
            <a:ext cx="508572" cy="508572"/>
            <a:chOff x="0" y="0"/>
            <a:chExt cx="877824" cy="8778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2E8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483344" y="3637105"/>
            <a:ext cx="2267384" cy="423810"/>
            <a:chOff x="0" y="0"/>
            <a:chExt cx="3913632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&amp; Track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57618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NASA FIRMS Ingestion</a:t>
            </a:r>
          </a:p>
          <a:p>
            <a:pPr>
              <a:lnSpc>
                <a:spcPct val="115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VIIRS 375m &amp; MODIS 1km satellite telemetry pass ingested every 3 hrs.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664049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AI Multi-Class Categorization</a:t>
            </a:r>
          </a:p>
          <a:p>
            <a:pPr>
              <a:lnSpc>
                <a:spcPct val="115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Random Forest + DBSCAN clustering (Wildfire, Industrial, Flare, Stubble).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270481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Confidence &amp; Threat Gating</a:t>
            </a:r>
          </a:p>
          <a:p>
            <a:pPr>
              <a:lnSpc>
                <a:spcPct val="115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Peak temp (623°C), 60-day baseline check, &gt;85% direct alert vs &lt;85% drone recon.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7876912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Downwind Spread &amp; Impact</a:t>
            </a:r>
          </a:p>
          <a:p>
            <a:pPr>
              <a:lnSpc>
                <a:spcPct val="115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Surface wind vector integration + OpenStreetMap population at risk (398K).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0483344" y="4073651"/>
            <a:ext cx="2267384" cy="34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rPr sz="1500" b="1">
                <a:solidFill>
                  <a:srgbClr val="0F172A"/>
                </a:solidFill>
                <a:latin typeface="Segoe UI"/>
              </a:rPr>
              <a:t>Actionable Dispatch &amp; Relief</a:t>
            </a:r>
          </a:p>
          <a:p>
            <a:pPr>
              <a:lnSpc>
                <a:spcPct val="115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rPr sz="1300">
                <a:solidFill>
                  <a:srgbClr val="334155"/>
                </a:solidFill>
                <a:latin typeface="Segoe UI"/>
              </a:rPr>
              <a:t>NDRF battalion deployment, safe citizen evacuation routing &amp; offline SMS 1078.</a:t>
            </a:r>
          </a:p>
        </p:txBody>
      </p:sp>
      <p:pic>
        <p:nvPicPr>
          <p:cNvPr id="106" name="Picture 105" descr="citizen_services_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0" y="2011680"/>
            <a:ext cx="4937760" cy="3327202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12984480" y="5577840"/>
            <a:ext cx="4937760" cy="3840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rPr sz="1500" b="1">
                <a:solidFill>
                  <a:srgbClr val="2563EB"/>
                </a:solidFill>
                <a:latin typeface="Segoe UI"/>
              </a:rPr>
              <a:t>EDGE-TO-CITIZEN SPECS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latin typeface="Segoe UI"/>
              </a:defRPr>
            </a:pPr>
            <a:r>
              <a:rPr sz="1300" b="1">
                <a:solidFill>
                  <a:srgbClr val="0F172A"/>
                </a:solidFill>
                <a:latin typeface="Segoe UI"/>
              </a:rPr>
              <a:t>⚡ Orbital Latency:</a:t>
            </a:r>
            <a:r>
              <a:rPr sz="1250">
                <a:solidFill>
                  <a:srgbClr val="334155"/>
                </a:solidFill>
                <a:latin typeface="Segoe UI"/>
              </a:rPr>
              <a:t> 3-hour refresh cycle synchronized with NASA EOSDIS/LANCE pass.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latin typeface="Segoe UI"/>
              </a:defRPr>
            </a:pPr>
            <a:r>
              <a:rPr sz="1300" b="1">
                <a:solidFill>
                  <a:srgbClr val="0F172A"/>
                </a:solidFill>
                <a:latin typeface="Segoe UI"/>
              </a:rPr>
              <a:t>🎯 Spatial Precision:</a:t>
            </a:r>
            <a:r>
              <a:rPr sz="1250">
                <a:solidFill>
                  <a:srgbClr val="334155"/>
                </a:solidFill>
                <a:latin typeface="Segoe UI"/>
              </a:rPr>
              <a:t> 375m I-band thermal resolution (VIIRS sensor).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latin typeface="Segoe UI"/>
              </a:defRPr>
            </a:pPr>
            <a:r>
              <a:rPr sz="1300" b="1">
                <a:solidFill>
                  <a:srgbClr val="0F172A"/>
                </a:solidFill>
                <a:latin typeface="Segoe UI"/>
              </a:rPr>
              <a:t>🛡️ Flare Gating:</a:t>
            </a:r>
            <a:r>
              <a:rPr sz="1250">
                <a:solidFill>
                  <a:srgbClr val="334155"/>
                </a:solidFill>
                <a:latin typeface="Segoe UI"/>
              </a:rPr>
              <a:t> Spatial buffer query against licensed refinery cadastre.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latin typeface="Segoe UI"/>
              </a:defRPr>
            </a:pPr>
            <a:r>
              <a:rPr sz="1300" b="1">
                <a:solidFill>
                  <a:srgbClr val="0F172A"/>
                </a:solidFill>
                <a:latin typeface="Segoe UI"/>
              </a:rPr>
              <a:t>📶 SMS Gateway:</a:t>
            </a:r>
            <a:r>
              <a:rPr sz="1250">
                <a:solidFill>
                  <a:srgbClr val="334155"/>
                </a:solidFill>
                <a:latin typeface="Segoe UI"/>
              </a:rPr>
              <a:t> SMPP 3.4 integration to Government 1078 shortcode.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1112067" y="2815984"/>
            <a:ext cx="8604273" cy="1356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20799" y="1942898"/>
            <a:ext cx="4219803" cy="393323"/>
            <a:chOff x="0" y="0"/>
            <a:chExt cx="7848185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7041" y="1865644"/>
            <a:ext cx="4219803" cy="547833"/>
            <a:chOff x="0" y="0"/>
            <a:chExt cx="7848185" cy="10188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48185" cy="1018884"/>
            </a:xfrm>
            <a:custGeom>
              <a:avLst/>
              <a:gdLst/>
              <a:ahLst/>
              <a:cxnLst/>
              <a:rect r="r" b="b" t="t" l="l"/>
              <a:pathLst>
                <a:path h="1018884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1018884"/>
                  </a:lnTo>
                  <a:lnTo>
                    <a:pt x="0" y="1018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688" r="-45638" b="-1544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848185" cy="1066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0799" y="6302476"/>
            <a:ext cx="4219803" cy="393323"/>
            <a:chOff x="0" y="0"/>
            <a:chExt cx="7848185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7041" y="6315117"/>
            <a:ext cx="4219803" cy="393323"/>
            <a:chOff x="0" y="0"/>
            <a:chExt cx="7848185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&amp; RISKS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54558" y="2288596"/>
            <a:ext cx="3977639" cy="284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3972" indent="-166986" lvl="1">
              <a:lnSpc>
                <a:spcPct val="115000"/>
              </a:lnSpc>
              <a:spcAft>
                <a:spcPts val="600"/>
              </a:spcAft>
              <a:buFont typeface="Arial"/>
              <a:buChar char="•"/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Technical Feasibility: </a:t>
            </a:r>
            <a:r>
              <a:rPr sz="1300">
                <a:solidFill>
                  <a:srgbClr val="334155"/>
                </a:solidFill>
                <a:latin typeface="Segoe UI"/>
              </a:rPr>
              <a:t>Operates on NASA FIRMS near-real-time satellite telemetry, OpenStreetMap, and Open-Meteo weather APIs.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Zero Hardware Capex: </a:t>
            </a:r>
            <a:r>
              <a:rPr sz="1300">
                <a:solidFill>
                  <a:srgbClr val="334155"/>
                </a:solidFill>
                <a:latin typeface="Segoe UI"/>
              </a:rPr>
              <a:t>Leverages existing space orbits and standard mobile browsers with offline SMS gateway — zero new sensors required.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Live Operational Prototype: </a:t>
            </a:r>
            <a:r>
              <a:rPr sz="1300">
                <a:solidFill>
                  <a:srgbClr val="334155"/>
                </a:solidFill>
                <a:latin typeface="Segoe UI"/>
              </a:rPr>
              <a:t>Working software fully deployed on edge cloud (sih-thermal-intel.vercel.app) with sub-second response times.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09395" y="2436092"/>
            <a:ext cx="3977639" cy="284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3972" indent="-166986" lvl="1">
              <a:lnSpc>
                <a:spcPct val="115000"/>
              </a:lnSpc>
              <a:spcAft>
                <a:spcPts val="600"/>
              </a:spcAft>
              <a:buFont typeface="Arial"/>
              <a:buChar char="•"/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Unified Operational Hierarchy: </a:t>
            </a:r>
            <a:r>
              <a:rPr sz="1300">
                <a:solidFill>
                  <a:srgbClr val="334155"/>
                </a:solidFill>
                <a:latin typeface="Segoe UI"/>
              </a:rPr>
              <a:t>NTRO Space Analysts ➔ State Incident Commanders ➔ NDRF Battalions &amp; Fire Brigades ➔ Citizens.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National Scalability: </a:t>
            </a:r>
            <a:r>
              <a:rPr sz="1300">
                <a:solidFill>
                  <a:srgbClr val="334155"/>
                </a:solidFill>
                <a:latin typeface="Segoe UI"/>
              </a:rPr>
              <a:t>Pre-mapped industrial &amp; ecological zones across Odisha, Gujarat, Punjab, and Haryana with dynamic expansion.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Governance &amp; Audit Compliance: </a:t>
            </a:r>
            <a:r>
              <a:rPr sz="1300">
                <a:solidFill>
                  <a:srgbClr val="334155"/>
                </a:solidFill>
                <a:latin typeface="Segoe UI"/>
              </a:rPr>
              <a:t>Downloadable executive command memos, GeoJSON incident corridors, and auditable status logs.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8316" y="6902551"/>
            <a:ext cx="3977639" cy="239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844" indent="-158422" lvl="1">
              <a:lnSpc>
                <a:spcPct val="115000"/>
              </a:lnSpc>
              <a:spcAft>
                <a:spcPts val="600"/>
              </a:spcAft>
              <a:buFont typeface="Arial"/>
              <a:buChar char="•"/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Licensed Flare vs Wildfire: </a:t>
            </a:r>
            <a:r>
              <a:rPr sz="1300">
                <a:solidFill>
                  <a:srgbClr val="334155"/>
                </a:solidFill>
                <a:latin typeface="Segoe UI"/>
              </a:rPr>
              <a:t>Distinguishing routine licensed refinery flares (e.g. Jamnagar/Mehsana) from uncontrolled forest wildfires.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Remote Cellular Blackout: </a:t>
            </a:r>
            <a:r>
              <a:rPr sz="1300">
                <a:solidFill>
                  <a:srgbClr val="334155"/>
                </a:solidFill>
                <a:latin typeface="Segoe UI"/>
              </a:rPr>
              <a:t>Field internet failure in remote forest reserves during active disasters preventing mobile app usage.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Inter-Agency Coordination Latency: </a:t>
            </a:r>
            <a:r>
              <a:rPr sz="1300">
                <a:solidFill>
                  <a:srgbClr val="334155"/>
                </a:solidFill>
                <a:latin typeface="Segoe UI"/>
              </a:rPr>
              <a:t>Friction and delay across civil defense, forest officers, police, and district collectors.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831693" y="6867260"/>
            <a:ext cx="3977639" cy="239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844" indent="-158422" lvl="1">
              <a:lnSpc>
                <a:spcPct val="115000"/>
              </a:lnSpc>
              <a:spcAft>
                <a:spcPts val="600"/>
              </a:spcAft>
              <a:buFont typeface="Arial"/>
              <a:buChar char="•"/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AI Confidence Engine: </a:t>
            </a:r>
            <a:r>
              <a:rPr sz="1300">
                <a:solidFill>
                  <a:srgbClr val="334155"/>
                </a:solidFill>
                <a:latin typeface="Segoe UI"/>
              </a:rPr>
              <a:t>&gt;85% confidence triggers automated dispatch, while &lt;85% triggers drone recon; verified with National Industrial Cadastre.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Zero-Data Offline Broadcast: </a:t>
            </a:r>
            <a:r>
              <a:rPr sz="1300">
                <a:solidFill>
                  <a:srgbClr val="334155"/>
                </a:solidFill>
                <a:latin typeface="Segoe UI"/>
              </a:rPr>
              <a:t>Automated offline SMS routing (HELP &lt;Pincode&gt; to 1078) delivers shelter and bridge routes without internet.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• 1-Click Incident Command: </a:t>
            </a:r>
            <a:r>
              <a:rPr sz="1300">
                <a:solidFill>
                  <a:srgbClr val="334155"/>
                </a:solidFill>
                <a:latin typeface="Segoe UI"/>
              </a:rPr>
              <a:t>Pre-formatted collector memos, automated public advisories, and live NDRF asset tracking in one click.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Decision Tree</a:t>
              </a:r>
            </a:p>
          </p:txBody>
        </p:sp>
      </p:grpSp>
      <p:pic>
        <p:nvPicPr>
          <p:cNvPr id="51" name="Picture 50" descr="ntro_intelligence_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377440"/>
            <a:ext cx="9326880" cy="63757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0"/>
                  </a:moveTo>
                  <a:lnTo>
                    <a:pt x="23225761" y="0"/>
                  </a:lnTo>
                  <a:lnTo>
                    <a:pt x="23225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0" b="-5686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3225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Satellite Pixel to Fire Engine on the Road — Tracked End-to-End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80060" y="2343150"/>
            <a:ext cx="1700784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958" indent="-228479" lvl="1">
              <a:lnSpc>
                <a:spcPts val="3029"/>
              </a:lnSpc>
              <a:spcAft>
                <a:spcPts val="600"/>
              </a:spcAft>
              <a:buFont typeface="Arial"/>
              <a:buChar char="•"/>
              <a:defRPr sz="1650">
                <a:latin typeface="Segoe UI"/>
              </a:defRPr>
            </a:pPr>
            <a:r>
              <a:rPr sz="1650">
                <a:solidFill>
                  <a:srgbClr val="0F172A"/>
                </a:solidFill>
                <a:latin typeface="Segoe UI"/>
              </a:rPr>
              <a:t>Every detected anomaly is transformed into actionable tactical intelligence: fire classification, threat level, population at risk, and deployed NDRF assets.</a:t>
            </a:r>
          </a:p>
          <a:p>
            <a:pPr>
              <a:defRPr sz="1550">
                <a:latin typeface="Segoe UI"/>
              </a:defRPr>
            </a:pPr>
            <a:r>
              <a:rPr sz="1550" b="1">
                <a:solidFill>
                  <a:srgbClr val="2563EB"/>
                </a:solidFill>
                <a:latin typeface="Segoe UI"/>
              </a:rPr>
              <a:t>Operational Example: Angul Industrial Blaze — 82K citizens shielded, 3 NDRF teams deployed, Brahmani bridge evacuation corridor secured within 12 minutes.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11480" y="4937760"/>
            <a:ext cx="5577840" cy="3771900"/>
            <a:chOff x="0" y="0"/>
            <a:chExt cx="7437120" cy="502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58368" y="5095875"/>
            <a:ext cx="5084064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2" indent="-230741" lvl="1">
              <a:lnSpc>
                <a:spcPct val="118000"/>
              </a:lnSpc>
              <a:spcAft>
                <a:spcPts val="800"/>
              </a:spcAft>
              <a:buFont typeface="Arial"/>
              <a:buChar char="•"/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Sub-10 Minute Emergency Response: </a:t>
            </a:r>
            <a:r>
              <a:rPr sz="1350">
                <a:solidFill>
                  <a:srgbClr val="334155"/>
                </a:solidFill>
                <a:latin typeface="Segoe UI"/>
              </a:rPr>
              <a:t>1-tap SOS triage links directly to nearest deployed NDRF battalion with real-time ETA.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Vernacular Accessibility: </a:t>
            </a:r>
            <a:r>
              <a:rPr sz="1350">
                <a:solidFill>
                  <a:srgbClr val="334155"/>
                </a:solidFill>
                <a:latin typeface="Segoe UI"/>
              </a:rPr>
              <a:t>Full citizen services in Hindi, Odia, and English ensures rural communities receive clear safety instructions.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Zero-Data Offline Inclusivity: </a:t>
            </a:r>
            <a:r>
              <a:rPr sz="1350">
                <a:solidFill>
                  <a:srgbClr val="334155"/>
                </a:solidFill>
                <a:latin typeface="Segoe UI"/>
              </a:rPr>
              <a:t>Automated SMS 1078 provides vital shelter &amp; safe route guidance even during complete power/tower outage.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32220" y="4937760"/>
            <a:ext cx="5577840" cy="3771900"/>
            <a:chOff x="0" y="0"/>
            <a:chExt cx="7437120" cy="502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57910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ct val="118000"/>
              </a:lnSpc>
              <a:spcAft>
                <a:spcPts val="800"/>
              </a:spcAft>
              <a:buFont typeface="Arial"/>
              <a:buChar char="•"/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₹45+ Cr Annual Savings: </a:t>
            </a:r>
            <a:r>
              <a:rPr sz="1350">
                <a:solidFill>
                  <a:srgbClr val="334155"/>
                </a:solidFill>
                <a:latin typeface="Segoe UI"/>
              </a:rPr>
              <a:t>Filters out false alarms and licensed industrial flares, eliminating wasted emergency troop deployments.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Zero Hardware Sensor Capex: </a:t>
            </a:r>
            <a:r>
              <a:rPr sz="1350">
                <a:solidFill>
                  <a:srgbClr val="334155"/>
                </a:solidFill>
                <a:latin typeface="Segoe UI"/>
              </a:rPr>
              <a:t>Runs purely on NASA satellite passes and open infrastructure — zero physical sensors to buy or maintain.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Industrial Asset Preservation: </a:t>
            </a:r>
            <a:r>
              <a:rPr sz="1350">
                <a:solidFill>
                  <a:srgbClr val="334155"/>
                </a:solidFill>
                <a:latin typeface="Segoe UI"/>
              </a:rPr>
              <a:t>Rapid threat corridor containment prevents catastrophic refinery and manufacturing plant losses.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52960" y="4937760"/>
            <a:ext cx="5577840" cy="3771900"/>
            <a:chOff x="0" y="0"/>
            <a:chExt cx="7437120" cy="502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49984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ct val="118000"/>
              </a:lnSpc>
              <a:spcAft>
                <a:spcPts val="800"/>
              </a:spcAft>
              <a:buFont typeface="Arial"/>
              <a:buChar char="•"/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70%+ Reduction in Burn Acreage: </a:t>
            </a:r>
            <a:r>
              <a:rPr sz="1350">
                <a:solidFill>
                  <a:srgbClr val="334155"/>
                </a:solidFill>
                <a:latin typeface="Segoe UI"/>
              </a:rPr>
              <a:t>Rapid containment in critical ecological reserves (Similipal &amp; Malkangiri) limits forest and wildlife devastation.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CAQM Winter Smog Mitigation: </a:t>
            </a:r>
            <a:r>
              <a:rPr sz="1350">
                <a:solidFill>
                  <a:srgbClr val="334155"/>
                </a:solidFill>
                <a:latin typeface="Segoe UI"/>
              </a:rPr>
              <a:t>Real-time crop-burning tracking across Punjab &amp; Haryana feeds actionable enforcement against stubble burning.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• Hazardous Gas Plume Monitoring: </a:t>
            </a:r>
            <a:r>
              <a:rPr sz="1350">
                <a:solidFill>
                  <a:srgbClr val="334155"/>
                </a:solidFill>
                <a:latin typeface="Segoe UI"/>
              </a:rPr>
              <a:t>Tracks chemical downwind dispersion corridors to prevent toxic inhalation in nearby residential sectors.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77340" y="5494786"/>
            <a:ext cx="2886075" cy="2886075"/>
            <a:chOff x="0" y="0"/>
            <a:chExt cx="3848100" cy="38481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481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621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878127" y="5143500"/>
            <a:ext cx="2486025" cy="2819400"/>
            <a:chOff x="0" y="0"/>
            <a:chExt cx="3314700" cy="375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147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3759200"/>
                  </a:lnTo>
                  <a:lnTo>
                    <a:pt x="0" y="37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943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098486" y="5143500"/>
            <a:ext cx="3219450" cy="2971800"/>
            <a:chOff x="0" y="0"/>
            <a:chExt cx="4292600" cy="3962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926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4292600">
                  <a:moveTo>
                    <a:pt x="0" y="0"/>
                  </a:moveTo>
                  <a:lnTo>
                    <a:pt x="4292600" y="0"/>
                  </a:lnTo>
                  <a:lnTo>
                    <a:pt x="4292600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21999"/>
              </a:blip>
              <a:stretch>
                <a:fillRect l="0" t="0" r="0" b="-833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585216"/>
                  </a:lnTo>
                  <a:cubicBezTo>
                    <a:pt x="13898880" y="665988"/>
                    <a:pt x="13833348" y="731520"/>
                    <a:pt x="137525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47120" y="1714500"/>
            <a:ext cx="6583680" cy="3154680"/>
            <a:chOff x="0" y="0"/>
            <a:chExt cx="8778240" cy="4206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4059936"/>
                  </a:lnTo>
                  <a:cubicBezTo>
                    <a:pt x="8778240" y="4140708"/>
                    <a:pt x="8712708" y="4206240"/>
                    <a:pt x="863193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0" y="1988820"/>
            <a:ext cx="6035040" cy="548640"/>
            <a:chOff x="0" y="0"/>
            <a:chExt cx="80467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46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PROTOTYPE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21440" y="2674620"/>
            <a:ext cx="6035040" cy="822960"/>
            <a:chOff x="0" y="0"/>
            <a:chExt cx="80467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0467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5" tooltip="https://sih-thermal-intel.vercel.app"/>
                </a:rPr>
                <a:t>sih-thermal-intel.vercel.app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21440" y="3566160"/>
            <a:ext cx="6035040" cy="1097280"/>
            <a:chOff x="0" y="0"/>
            <a:chExt cx="804672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046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Control Room, Fire Station &amp; Field Team views with 4 working demo scenarios.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37595" y="5133975"/>
            <a:ext cx="6602730" cy="2213610"/>
            <a:chOff x="0" y="0"/>
            <a:chExt cx="8803640" cy="2951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036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8803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656066" y="0"/>
                  </a:lnTo>
                  <a:cubicBezTo>
                    <a:pt x="8737600" y="0"/>
                    <a:pt x="8803640" y="66040"/>
                    <a:pt x="8803640" y="147574"/>
                  </a:cubicBezTo>
                  <a:lnTo>
                    <a:pt x="8803640" y="2803906"/>
                  </a:lnTo>
                  <a:cubicBezTo>
                    <a:pt x="8803640" y="2885440"/>
                    <a:pt x="8737600" y="2951480"/>
                    <a:pt x="865606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521440" y="5417820"/>
            <a:ext cx="6035040" cy="548640"/>
            <a:chOff x="0" y="0"/>
            <a:chExt cx="80467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046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 AeroThermal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21440" y="5966460"/>
            <a:ext cx="6035040" cy="1234440"/>
            <a:chOff x="0" y="0"/>
            <a:chExt cx="804672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46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804672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ID: SIH26162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Agency Partner: NTRO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01375" y="2626995"/>
            <a:ext cx="9601200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  <a:spcBef>
                <a:spcPts val="800"/>
              </a:spcBef>
              <a:spcAft>
                <a:spcPts val="200"/>
              </a:spcAft>
              <a:defRPr sz="1550" b="1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1. Live Working Prototype &amp; Codebase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Live Web Application: https://sih-thermal-intel.vercel.app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GitHub Repository: https://github.com/PaliiiXRAY/sih-thermal-intel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2. NASA FIRMS (Primary Satellite Telemetry)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NASA FIRMS Official Portal: https://firms.modaps.eosdis.nasa.gov/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Active Fire Attributes (MODIS 1km &amp; VIIRS 375m I-band telemetry)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3. Meteorological &amp; Infrastructure Models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OpenStreetMap Overpass API (Critical Infrastructure &amp; Roads): https://dev.overpass-api.de/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Open-Meteo High-Resolution Numerical Weather Model: https://open-meteo.com/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4. National Disaster Response Frameworks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NDMA Standard Operating Procedures for Wildfire &amp; Industrial Hazards (https://ndma.gov.in/)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50">
                <a:latin typeface="Segoe UI"/>
              </a:defRPr>
            </a:pPr>
            <a:r>
              <a:rPr sz="1350">
                <a:solidFill>
                  <a:srgbClr val="334155"/>
                </a:solidFill>
                <a:latin typeface="Segoe UI"/>
              </a:rPr>
              <a:t>   • National Disaster Response Force (NDRF) Battalion Resource Cadre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DAHUP5XetBc</dc:identifier>
  <dcterms:modified xsi:type="dcterms:W3CDTF">2011-08-01T06:04:30Z</dcterms:modified>
  <cp:revision>1</cp:revision>
  <dc:title>AeroThermal_SIH26162_v2.pptx</dc:title>
</cp:coreProperties>
</file>