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1E3A8A"/>
                </a:solidFill>
              </a:defRPr>
            </a:pPr>
            <a:r>
              <a:t>SMART INDIA HACKATHON 2026</a:t>
            </a:r>
          </a:p>
          <a:p>
            <a:pPr algn="ctr">
              <a:defRPr b="1" sz="2000">
                <a:solidFill>
                  <a:srgbClr val="0F172A"/>
                </a:solidFill>
              </a:defRPr>
            </a:pPr>
            <a:r>
              <a:t>TITLE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400">
                <a:solidFill>
                  <a:srgbClr val="0F172A"/>
                </a:solidFill>
              </a:rPr>
              <a:t>• Problem Statement ID - </a:t>
            </a:r>
            <a:r>
              <a:rPr b="0" sz="1400">
                <a:solidFill>
                  <a:srgbClr val="0284C7"/>
                </a:solidFill>
              </a:rPr>
              <a:t>SIH26162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F172A"/>
                </a:solidFill>
              </a:rPr>
              <a:t>• Problem Statement Title - </a:t>
            </a:r>
            <a:r>
              <a:rPr b="0" sz="1400">
                <a:solidFill>
                  <a:srgbClr val="0F172A"/>
                </a:solidFill>
              </a:rPr>
              <a:t>Satellite-to-Ground Disaster Management: Detection, Classification &amp; Response to Persistent Thermal Sources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F172A"/>
                </a:solidFill>
              </a:rPr>
              <a:t>• Theme - </a:t>
            </a:r>
            <a:r>
              <a:rPr b="0" sz="1400">
                <a:solidFill>
                  <a:srgbClr val="0F172A"/>
                </a:solidFill>
              </a:rPr>
              <a:t>Disaster Management &amp; Geospatial Intelligence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F172A"/>
                </a:solidFill>
              </a:rPr>
              <a:t>• PS Category - </a:t>
            </a:r>
            <a:r>
              <a:rPr b="0" sz="1400">
                <a:solidFill>
                  <a:srgbClr val="0F172A"/>
                </a:solidFill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F172A"/>
                </a:solidFill>
              </a:rPr>
              <a:t>• Team ID - </a:t>
            </a:r>
            <a:r>
              <a:rPr b="0" sz="1400">
                <a:solidFill>
                  <a:srgbClr val="0F172A"/>
                </a:solidFill>
              </a:rPr>
              <a:t>[Your Team ID]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F172A"/>
                </a:solidFill>
              </a:rPr>
              <a:t>• Team Name - </a:t>
            </a:r>
            <a:r>
              <a:rPr b="0" sz="1400">
                <a:solidFill>
                  <a:srgbClr val="0F172A"/>
                </a:solidFill>
              </a:rPr>
              <a:t>[Your Team Name]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737360"/>
            <a:ext cx="365760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475569"/>
                </a:solidFill>
              </a:defRPr>
            </a:pPr>
            <a:br/>
            <a:br/>
            <a:r>
              <a:t>[Insert SIH Logo / Team Illustration Here]</a:t>
            </a:r>
            <a:br/>
            <a:br/>
            <a:r>
              <a:t>Ministry / Organization:</a:t>
            </a:r>
            <a:br/>
            <a:r>
              <a:t>National Technical Research Organisation (NTRO)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9144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0F172A"/>
                </a:solidFill>
              </a:defRPr>
            </a:pPr>
            <a:r>
              <a:t>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217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0284C7"/>
                </a:solidFill>
              </a:defRPr>
            </a:pPr>
            <a:r>
              <a:t>❑ The Paradigm Shift: Satellite-to-Ground Disaster Management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Core Philosophy: 'We convert a satellite thermal detection into a prioritized incident, find what's at risk, route it to the right responder, and track it until resolution.'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Automated Incident Lifecycle: Manages tickets from NEW -&gt; INVESTIGATING -&gt; VERIFIED -&gt; DISPATCHED -&gt; CONTAINED -&gt; RESOLVED.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Explainable AI Engine: Every classification provides explicit Supporting Evidence (canopy, FRP, footprint growth) and Counter-Evidence (cloud contamination).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Asset-at-Risk Engine: Immediately cross-references satellite coordinates with nearby human habitations (population count), national highways, and healthcare units.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Dual-View Interoperability: Seamless toggle between Control Room Commander view and First Responder Mobile Field view.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200">
                <a:solidFill>
                  <a:srgbClr val="0284C7"/>
                </a:solidFill>
              </a:defRPr>
            </a:pPr>
            <a:r>
              <a:t>❑ Innovation &amp; Uniqueness: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Composite Risk Scoring (87/100): Combines Severity x Persistence x Footprint Growth x Exposure rather than claiming unscientific probabilities.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Local Historical Baseline: Analyzes historical overpasses specifically for THIS 375m cell to distinguish routine flares from abnormal surges.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Potential Downwind Impact Corridor: Defensible wind-vector smoke/ember projection instead of unrealistic fire spread simulation.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Simulated Control Room Dispatch: 1-click encrypted emergency routing to Baripada Fire Station with simulated real-time acknowledgement.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371600"/>
            <a:ext cx="466344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4630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50"/>
            </a:pPr>
            <a:r>
              <a:t>The 6-Module Operational Incident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920240"/>
            <a:ext cx="4114800" cy="621792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MODULE 1: DETECT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NASA FIRMS Active Fire VIIRS 375m (FRP &amp; Temp)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651760"/>
            <a:ext cx="4114800" cy="621792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MODULE 2: CLASSIFY &amp; EXPLAIN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Wildfire / Stubble / Flare / Clandestine + Why?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383280"/>
            <a:ext cx="4114800" cy="621792"/>
          </a:xfrm>
          <a:prstGeom prst="roundRect">
            <a:avLst/>
          </a:prstGeom>
          <a:solidFill>
            <a:srgbClr val="FFEDD5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MODULE 3: CONTEXTUALIZE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OSM Land-Use + Local Historical Baseline (This Cell Only)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114800"/>
            <a:ext cx="4114800" cy="621792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MODULE 4: ASSESS (RISK ENGINE)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Risk Score (87/100) + Asset-at-Risk Table + Impact Corridor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846320"/>
            <a:ext cx="4114800" cy="62179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MODULE 5: RESPOND &amp; DISPATCH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Incident Ticket #INC-0042 + Simulated Authority Dispatch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5577840"/>
            <a:ext cx="41148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MODULE 6: TRACK &amp; FEEDBACK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First Responder View: Acknowledge -&gt; En Route -&gt; Resolved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9144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651760" cy="39319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wrap="square"/>
          <a:lstStyle/>
          <a:p>
            <a:pPr algn="ctr">
              <a:spcAft>
                <a:spcPts val="800"/>
              </a:spcAft>
              <a:defRPr b="1" sz="1100"/>
            </a:pPr>
            <a:r>
              <a:t>Module 1 &amp; 2: Ingestion &amp; AI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NASA FIRMS VIIRS 375m Feed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FRP (MW) &amp; Brightness Temp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Multi-Category Classifier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Explainability Evidence Engine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Counter-Evidence Cloud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663440"/>
            <a:ext cx="2377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/>
            </a:pPr>
            <a:r>
              <a:t>Python 3.13, Scipy, NumPy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51760" cy="393192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wrap="square"/>
          <a:lstStyle/>
          <a:p>
            <a:pPr algn="ctr">
              <a:spcAft>
                <a:spcPts val="800"/>
              </a:spcAft>
              <a:defRPr b="1" sz="1100"/>
            </a:pPr>
            <a:r>
              <a:t>Module 3 &amp; 4: Context &amp; Risk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OSM Vector Polygon Extraction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Local Baseline (This Cell Only)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Composite Risk Score (0-100)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Asset-at-Risk Matrix (Habitation)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Potential Downwind Corridor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663440"/>
            <a:ext cx="2377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/>
            </a:pPr>
            <a:r>
              <a:t>OSMnx, Shapely, GeoPandas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371600"/>
            <a:ext cx="2651760" cy="39319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wrap="square"/>
          <a:lstStyle/>
          <a:p>
            <a:pPr algn="ctr">
              <a:spcAft>
                <a:spcPts val="800"/>
              </a:spcAft>
              <a:defRPr b="1" sz="1100"/>
            </a:pPr>
            <a:r>
              <a:t>Module 5: Incident &amp; Routing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Stateful Ticket Model (#INC-xxxx)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Nearest Authority Auto-Routing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Baripada Fire Station (ETA 25m)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Simulated Dispatch Protocol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Multi-Agency Alert Trigger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39" y="4663440"/>
            <a:ext cx="2377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/>
            </a:pPr>
            <a:r>
              <a:t>FastAPI / HTTP Server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399" y="1371600"/>
            <a:ext cx="2651760" cy="393192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wrap="square"/>
          <a:lstStyle/>
          <a:p>
            <a:pPr algn="ctr">
              <a:spcAft>
                <a:spcPts val="800"/>
              </a:spcAft>
              <a:defRPr b="1" sz="1100"/>
            </a:pPr>
            <a:r>
              <a:t>Module 6: Responder &amp; Tracking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Dual-Screen Architecture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Tactical Responder Field Terminal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Acknowledge -&gt; En Route -&gt; Resolved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Real-Time WebSocket/Sync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Ground Truth Stored for 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4663440"/>
            <a:ext cx="2377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/>
            </a:pPr>
            <a:r>
              <a:t>Leaflet.js, Tailwind, jsPDF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46120" y="292608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6035040" y="292608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823959" y="292608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5486400"/>
            <a:ext cx="1106424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284C7"/>
                </a:solidFill>
              </a:defRPr>
            </a:pPr>
            <a:r>
              <a:t>TECHNOLOGY STACK:  Python 3.13  |  FastAPI Engine  |  NASA FIRMS NRT  |  OpenStreetMap Overpass  |  Leaflet.js  |  Tailwind CSS  |  jsPDF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9144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wrap="square"/>
          <a:lstStyle/>
          <a:p>
            <a:pPr algn="ctr">
              <a:spcAft>
                <a:spcPts val="400"/>
              </a:spcAft>
              <a:defRPr b="1" sz="1200"/>
            </a:pPr>
            <a:r>
              <a:t>FEASIBILITY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1. Zero-Cost Satellite Ingestion: 100% powered by free public NASA FIRMS &amp; OpenStreetMap APIs.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2. Ultra-Lightweight Stack: Operates on standard CPU cloud/edge with sub-second execution (&lt;50ms).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3. Multi-Device Accessibility: Control room runs on desktop browser; Responder view operates on mobile.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24028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wrap="square"/>
          <a:lstStyle/>
          <a:p>
            <a:pPr algn="ctr">
              <a:spcAft>
                <a:spcPts val="400"/>
              </a:spcAft>
              <a:defRPr b="1" sz="1200"/>
            </a:pPr>
            <a:r>
              <a:t>VIABILITY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1. Operational Interoperability: Plugs directly into state disaster management (NDMA) &amp; NTRO workflows.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2. Massive Resource Optimization: Eliminates blind drone patrols by routing sorties to verified anomalies.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3. Closed-Loop Accountability: Every dispatch generates a cryptographic, audit-ready incident trail.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2402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wrap="square"/>
          <a:lstStyle/>
          <a:p>
            <a:pPr algn="ctr">
              <a:spcAft>
                <a:spcPts val="400"/>
              </a:spcAft>
              <a:defRPr b="1" sz="1200"/>
            </a:pPr>
            <a:r>
              <a:t>CHALLENGES &amp; RISKS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1. Monsoon Cloud Masking: Heavy cloud decks intermittently attenuate thermal infrared spaceborne sensors.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2. 375m Spatial Resolution Limit: Cannot attribute down to specific valves or individual buildings.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3. Rural First Responder Connectivity: Intermittent 4G/cellular coverage in deep tribal forest belts.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12080" cy="224028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wrap="square"/>
          <a:lstStyle/>
          <a:p>
            <a:pPr algn="ctr">
              <a:spcAft>
                <a:spcPts val="400"/>
              </a:spcAft>
              <a:defRPr b="1" sz="1200"/>
            </a:pPr>
            <a:r>
              <a:t>STRATEGIES TO OVERCOME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1. Local Multi-Temporal Windowing: Evaluates 60-day historical overpasses to bridge temporary cloud gaps.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2. Transparent Parcel Boundaries: Attributes to facility/village parcels, scientifically respecting VIIRS limits.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3. Offline First Responder Sync: Stores state transitions locally and synchronizes once connectivity restores.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3063240"/>
            <a:ext cx="228600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/>
            </a:pPr>
            <a:r>
              <a:t>OPERATIONAL</a:t>
            </a:r>
            <a:br/>
            <a:r>
              <a:t>FEASIBILITY MATRIX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9144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E0F2F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wrap="square"/>
          <a:lstStyle/>
          <a:p>
            <a:pPr algn="ctr">
              <a:spcAft>
                <a:spcPts val="1000"/>
              </a:spcAft>
              <a:defRPr b="1" sz="1400">
                <a:solidFill>
                  <a:srgbClr val="0284C7"/>
                </a:solidFill>
              </a:defRPr>
            </a:pPr>
            <a:r>
              <a:t>MULTI-STAKEHOLDER BENEFITS</a:t>
            </a:r>
          </a:p>
          <a:p>
            <a:pPr>
              <a:defRPr b="1" sz="1050"/>
            </a:pPr>
            <a:r>
              <a:t>[01] VILLAGE &amp; CITIZEN SAFETY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       1,420 residents in Village Kaptipada notified via pre-emptive emergency routing before fire front reaches forest boundary.</a:t>
            </a:r>
          </a:p>
          <a:p>
            <a:pPr>
              <a:defRPr b="1" sz="1050"/>
            </a:pPr>
            <a:r>
              <a:t>[02] FIRE &amp; RESCUE FIRST RESPONDERS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       Eliminates wild goose chases with exact GPS navigation coordinates, distance (14.2 km), and ETA (25 mins).</a:t>
            </a:r>
          </a:p>
          <a:p>
            <a:pPr>
              <a:defRPr b="1" sz="1050"/>
            </a:pPr>
            <a:r>
              <a:t>[03] NATIONAL SECURITY (NTRO)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       Surfaces clandestine unpermitted thermal sources operating without regulatory licenses in remote mineral belts.</a:t>
            </a:r>
          </a:p>
          <a:p>
            <a:pPr>
              <a:defRPr b="1" sz="1050"/>
            </a:pPr>
            <a:r>
              <a:t>[04] AIR QUALITY (CAQM / CPCB)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       Distinguishes open agricultural burning from industrial emissions, establishing actionable data for legal 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DCFCE7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wrap="square"/>
          <a:lstStyle/>
          <a:p>
            <a:pPr algn="ctr">
              <a:spcAft>
                <a:spcPts val="1000"/>
              </a:spcAft>
              <a:defRPr b="1" sz="1400">
                <a:solidFill>
                  <a:srgbClr val="16A34A"/>
                </a:solidFill>
              </a:defRPr>
            </a:pPr>
            <a:r>
              <a:t>MEASURABLE NATIONAL IMPACTS</a:t>
            </a:r>
          </a:p>
          <a:p>
            <a:pPr>
              <a:defRPr b="1" sz="1050"/>
            </a:pPr>
            <a:r>
              <a:t>[01] SUB-15 MINUTE INCIDENT RESPONSE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       Compresses satellite pass to first-responder dispatch from several hours down to under 15 minutes.</a:t>
            </a:r>
          </a:p>
          <a:p>
            <a:pPr>
              <a:defRPr b="1" sz="1050"/>
            </a:pPr>
            <a:r>
              <a:t>[02] PROTECTION OF VITAL ASSETS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       Instantly flags hospitals, schools, and national highways (NH-49) in potential downwind smoke corridors.</a:t>
            </a:r>
          </a:p>
          <a:p>
            <a:pPr>
              <a:defRPr b="1" sz="1050"/>
            </a:pPr>
            <a:r>
              <a:t>[03] 80% REDUCTION IN FALSE ALARMS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       Local 60-day baseline prevents mistaking legal industrial flares for dangerous wildfires.</a:t>
            </a:r>
          </a:p>
          <a:p>
            <a:pPr>
              <a:defRPr b="1" sz="1050"/>
            </a:pPr>
            <a:r>
              <a:t>[04] CLOSED-LOOP VERIFIED DATA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       Every field resolution (Contained/Resolved) is archived as ground-truth for continuous ML model retraining.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28600"/>
            <a:ext cx="1645920" cy="91440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943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/>
            </a:pPr>
            <a:r>
              <a:t>Academic &amp; Technical Foundations:</a:t>
            </a:r>
          </a:p>
          <a:p>
            <a:pPr>
              <a:spcAft>
                <a:spcPts val="400"/>
              </a:spcAft>
              <a:defRPr sz="1000"/>
            </a:pPr>
            <a:r>
              <a:t>• NASA FIRMS: LANCE Active Fire VIIRS 375m Ground Sampling Distance &amp; User Guide.</a:t>
            </a:r>
          </a:p>
          <a:p>
            <a:pPr>
              <a:spcAft>
                <a:spcPts val="400"/>
              </a:spcAft>
              <a:defRPr sz="1000"/>
            </a:pPr>
            <a:r>
              <a:t>• Schroeder et al. (Remote Sensing, 2014): The 375m VIIRS Active Fire Detection Product.</a:t>
            </a:r>
          </a:p>
          <a:p>
            <a:pPr>
              <a:spcAft>
                <a:spcPts val="400"/>
              </a:spcAft>
              <a:defRPr sz="1000"/>
            </a:pPr>
            <a:r>
              <a:t>• OpenStreetMap Overpass API Documentation &amp; Standardized Industrial Geometry Tagging.</a:t>
            </a:r>
          </a:p>
          <a:p>
            <a:pPr>
              <a:spcAft>
                <a:spcPts val="400"/>
              </a:spcAft>
              <a:defRPr sz="1000"/>
            </a:pPr>
            <a:r>
              <a:t>• National Disaster Management Authority (NDMA): National Guidelines for Forest Fire Management.</a:t>
            </a:r>
          </a:p>
          <a:p>
            <a:pPr>
              <a:spcAft>
                <a:spcPts val="400"/>
              </a:spcAft>
              <a:defRPr sz="1000"/>
            </a:pPr>
            <a:r>
              <a:t>• Forest Survey of India (FSI): Van Agni Real-Time Satellite Monitoring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201168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▶ YouTube Video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4937760"/>
            <a:ext cx="201168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💻 GitHub 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937760"/>
            <a:ext cx="201168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🌐 Live Working 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371600"/>
            <a:ext cx="411480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>
              <a:spcAft>
                <a:spcPts val="1200"/>
              </a:spcAft>
              <a:defRPr b="1" sz="1200"/>
            </a:pPr>
            <a:r>
              <a:t>Institutional Partners &amp; Data Standards:</a:t>
            </a:r>
          </a:p>
          <a:p>
            <a:pPr>
              <a:defRPr b="1" sz="1000">
                <a:solidFill>
                  <a:srgbClr val="0284C7"/>
                </a:solidFill>
              </a:defRPr>
            </a:pPr>
            <a:r>
              <a:t>• NASA Earthdata / LANCE</a:t>
            </a:r>
          </a:p>
          <a:p>
            <a:pPr>
              <a:spcAft>
                <a:spcPts val="600"/>
              </a:spcAft>
              <a:defRPr sz="900">
                <a:solidFill>
                  <a:srgbClr val="475569"/>
                </a:solidFill>
              </a:defRPr>
            </a:pPr>
            <a:r>
              <a:t>   Role: Near Real-Time VIIRS &amp; MODIS Thermal Satellite Feeds</a:t>
            </a:r>
          </a:p>
          <a:p>
            <a:pPr>
              <a:defRPr b="1" sz="1000">
                <a:solidFill>
                  <a:srgbClr val="0284C7"/>
                </a:solidFill>
              </a:defRPr>
            </a:pPr>
            <a:r>
              <a:t>• OpenStreetMap Foundation</a:t>
            </a:r>
          </a:p>
          <a:p>
            <a:pPr>
              <a:spcAft>
                <a:spcPts val="600"/>
              </a:spcAft>
              <a:defRPr sz="900">
                <a:solidFill>
                  <a:srgbClr val="475569"/>
                </a:solidFill>
              </a:defRPr>
            </a:pPr>
            <a:r>
              <a:t>   Role: Crowdsourced Semantic Vector Boundaries &amp; Zoning</a:t>
            </a:r>
          </a:p>
          <a:p>
            <a:pPr>
              <a:defRPr b="1" sz="1000">
                <a:solidFill>
                  <a:srgbClr val="0284C7"/>
                </a:solidFill>
              </a:defRPr>
            </a:pPr>
            <a:r>
              <a:t>• National Technical Research Organisation</a:t>
            </a:r>
          </a:p>
          <a:p>
            <a:pPr>
              <a:spcAft>
                <a:spcPts val="600"/>
              </a:spcAft>
              <a:defRPr sz="900">
                <a:solidFill>
                  <a:srgbClr val="475569"/>
                </a:solidFill>
              </a:defRPr>
            </a:pPr>
            <a:r>
              <a:t>   Role: Problem Proposer &amp; Strategic Security Mandate</a:t>
            </a:r>
          </a:p>
          <a:p>
            <a:pPr>
              <a:defRPr b="1" sz="1000">
                <a:solidFill>
                  <a:srgbClr val="0284C7"/>
                </a:solidFill>
              </a:defRPr>
            </a:pPr>
            <a:r>
              <a:t>• National Disaster Management Authority</a:t>
            </a:r>
          </a:p>
          <a:p>
            <a:pPr>
              <a:spcAft>
                <a:spcPts val="600"/>
              </a:spcAft>
              <a:defRPr sz="900">
                <a:solidFill>
                  <a:srgbClr val="475569"/>
                </a:solidFill>
              </a:defRPr>
            </a:pPr>
            <a:r>
              <a:t>   Role: Standard Operating Procedures for Ground Dispatch</a:t>
            </a:r>
          </a:p>
          <a:p>
            <a:pPr>
              <a:defRPr b="1" sz="1000">
                <a:solidFill>
                  <a:srgbClr val="0284C7"/>
                </a:solidFill>
              </a:defRPr>
            </a:pPr>
            <a:r>
              <a:t>• Baripada Fire &amp; Emergency Services</a:t>
            </a:r>
          </a:p>
          <a:p>
            <a:pPr>
              <a:spcAft>
                <a:spcPts val="600"/>
              </a:spcAft>
              <a:defRPr sz="900">
                <a:solidFill>
                  <a:srgbClr val="475569"/>
                </a:solidFill>
              </a:defRPr>
            </a:pPr>
            <a:r>
              <a:t>   Role: Field Level Responder Benchmark Unit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