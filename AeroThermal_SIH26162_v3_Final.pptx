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 Italics" charset="1" panose="02020703060505090304"/>
      <p:regular r:id="rId12"/>
    </p:embeddedFont>
    <p:embeddedFont>
      <p:font typeface="Times New Roman" charset="1" panose="02020603050405020304"/>
      <p:regular r:id="rId13"/>
    </p:embeddedFont>
    <p:embeddedFont>
      <p:font typeface="Arial" charset="1" panose="020B0604020202020204"/>
      <p:regular r:id="rId14"/>
    </p:embeddedFont>
    <p:embeddedFont>
      <p:font typeface="Arial Bold Italics" charset="1" panose="020B0704020202090204"/>
      <p:regular r:id="rId15"/>
    </p:embeddedFont>
    <p:embeddedFont>
      <p:font typeface="Times New Roman Bold" charset="1" panose="02020803070505020304"/>
      <p:regular r:id="rId19"/>
    </p:embeddedFon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notesMaster" Target="notesMasters/notesMaster1.xml"/><Relationship Id="rId17" Type="http://schemas.openxmlformats.org/officeDocument/2006/relationships/theme" Target="theme/theme2.xml"/><Relationship Id="rId18" Type="http://schemas.openxmlformats.org/officeDocument/2006/relationships/notesSlide" Target="notesSlides/notesSlide1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notesSlide" Target="notesSlides/notesSlide2.xml"/><Relationship Id="rId24" Type="http://schemas.openxmlformats.org/officeDocument/2006/relationships/notesSlide" Target="notesSlides/notesSlide3.xml"/><Relationship Id="rId25" Type="http://schemas.openxmlformats.org/officeDocument/2006/relationships/notesSlide" Target="notesSlides/notesSlide4.xml"/><Relationship Id="rId26" Type="http://schemas.openxmlformats.org/officeDocument/2006/relationships/notesSlide" Target="notesSlides/notes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hyperlink" Target="https://sih-thermal-intel.vercel.app" TargetMode="External"/><Relationship Id="rId6" Type="http://schemas.openxmlformats.org/officeDocument/2006/relationships/hyperlink" Target="https://firms.modaps.eosdis.nasa.gov" TargetMode="External"/><Relationship Id="rId7" Type="http://schemas.openxmlformats.org/officeDocument/2006/relationships/hyperlink" Target="https://firms.modaps.eosdis.nasa.gov" TargetMode="External"/><Relationship Id="rId8" Type="http://schemas.openxmlformats.org/officeDocument/2006/relationships/hyperlink" Target="https://firms.modaps.eosdis.nasa.gov" TargetMode="External"/><Relationship Id="rId9" Type="http://schemas.openxmlformats.org/officeDocument/2006/relationships/hyperlink" Target="https://firms.modaps.eosdis.nasa.gov" TargetMode="External"/><Relationship Id="rId10" Type="http://schemas.openxmlformats.org/officeDocument/2006/relationships/hyperlink" Target="https://firms.modaps.eosdis.nasa.gov" TargetMode="External"/><Relationship Id="rId11" Type="http://schemas.openxmlformats.org/officeDocument/2006/relationships/hyperlink" Target="https://firms.modaps.eosdis.nasa.gov" TargetMode="External"/><Relationship Id="rId12" Type="http://schemas.openxmlformats.org/officeDocument/2006/relationships/hyperlink" Target="https://firms.modaps.eosdis.nasa.gov" TargetMode="External"/><Relationship Id="rId13" Type="http://schemas.openxmlformats.org/officeDocument/2006/relationships/hyperlink" Target="https://firms.modaps.eosdis.nasa.gov" TargetMode="External"/><Relationship Id="rId14" Type="http://schemas.openxmlformats.org/officeDocument/2006/relationships/hyperlink" Target="https://firms.modaps.eosdis.nasa.gov" TargetMode="External"/><Relationship Id="rId15" Type="http://schemas.openxmlformats.org/officeDocument/2006/relationships/hyperlink" Target="https://firms.modaps.eosdis.nasa.gov" TargetMode="External"/><Relationship Id="rId16" Type="http://schemas.openxmlformats.org/officeDocument/2006/relationships/hyperlink" Target="https://firms.modaps.eosdis.nasa.gov" TargetMode="External"/><Relationship Id="rId17" Type="http://schemas.openxmlformats.org/officeDocument/2006/relationships/hyperlink" Target="https://firms.modaps.eosdis.nasa.gov" TargetMode="External"/><Relationship Id="rId18" Type="http://schemas.openxmlformats.org/officeDocument/2006/relationships/hyperlink" Target="https://firms.modaps.eosdis.nasa.gov" TargetMode="External"/><Relationship Id="rId19" Type="http://schemas.openxmlformats.org/officeDocument/2006/relationships/hyperlink" Target="https://firms.modaps.eosdis.nasa.gov" TargetMode="External"/><Relationship Id="rId20" Type="http://schemas.openxmlformats.org/officeDocument/2006/relationships/hyperlink" Target="https://firms.modaps.eosdis.nasa.gov" TargetMode="External"/><Relationship Id="rId21" Type="http://schemas.openxmlformats.org/officeDocument/2006/relationships/hyperlink" Target="https://firms.modaps.eosdis.nasa.gov" TargetMode="External"/><Relationship Id="rId22" Type="http://schemas.openxmlformats.org/officeDocument/2006/relationships/hyperlink" Target="https://firms.modaps.eosdis.nasa.gov" TargetMode="External"/><Relationship Id="rId23" Type="http://schemas.openxmlformats.org/officeDocument/2006/relationships/hyperlink" Target="https://firms.modaps.eosdis.nasa.gov" TargetMode="External"/><Relationship Id="rId24" Type="http://schemas.openxmlformats.org/officeDocument/2006/relationships/hyperlink" Target="https://firms.modaps.eosdis.nasa.gov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8991" y="159940"/>
            <a:ext cx="13948998" cy="10461748"/>
          </a:xfrm>
          <a:custGeom>
            <a:avLst/>
            <a:gdLst/>
            <a:ahLst/>
            <a:cxnLst/>
            <a:rect r="r" b="b" t="t" l="l"/>
            <a:pathLst>
              <a:path h="10461748" w="13948998">
                <a:moveTo>
                  <a:pt x="0" y="0"/>
                </a:moveTo>
                <a:lnTo>
                  <a:pt x="13948998" y="0"/>
                </a:lnTo>
                <a:lnTo>
                  <a:pt x="13948998" y="10461749"/>
                </a:lnTo>
                <a:lnTo>
                  <a:pt x="0" y="10461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90907" y="615609"/>
            <a:ext cx="3115276" cy="1329804"/>
            <a:chOff x="0" y="0"/>
            <a:chExt cx="2722880" cy="1162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816271" y="615609"/>
            <a:ext cx="1780822" cy="1562288"/>
            <a:chOff x="0" y="0"/>
            <a:chExt cx="1556512" cy="1365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6512" cy="1365504"/>
            </a:xfrm>
            <a:custGeom>
              <a:avLst/>
              <a:gdLst/>
              <a:ahLst/>
              <a:cxnLst/>
              <a:rect r="r" b="b" t="t" l="l"/>
              <a:pathLst>
                <a:path h="1365504" w="1556512">
                  <a:moveTo>
                    <a:pt x="0" y="0"/>
                  </a:moveTo>
                  <a:lnTo>
                    <a:pt x="1556512" y="0"/>
                  </a:lnTo>
                  <a:lnTo>
                    <a:pt x="1556512" y="1365504"/>
                  </a:lnTo>
                  <a:lnTo>
                    <a:pt x="0" y="1365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508991" y="1979299"/>
            <a:ext cx="3843036" cy="85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2"/>
              </a:lnSpc>
              <a:defRPr b="1"/>
            </a:pPr>
            <a:r>
              <a:t>FireSense | Thermal Anomaly &amp; Disaster Command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73513" y="692096"/>
            <a:ext cx="7466052" cy="1073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4"/>
              </a:lnSpc>
            </a:pPr>
            <a:r>
              <a:rPr lang="en-US" sz="6117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TEKATHON-5.0-</a:t>
            </a:r>
            <a:r>
              <a:rPr lang="en-US" sz="6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117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0560" y="3780412"/>
            <a:ext cx="8169201" cy="545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3"/>
              </a:lnSpc>
              <a:defRPr sz="1300" b="1"/>
            </a:pPr>
            <a:r>
              <a:t>• Problem Statement ID: SIH26162</a:t>
            </a:r>
          </a:p>
          <a:p>
            <a:pPr algn="l">
              <a:lnSpc>
                <a:spcPts val="8783"/>
              </a:lnSpc>
              <a:defRPr sz="1300" b="1"/>
            </a:pPr>
            <a:r>
              <a:t>• Problem Statement Title: Real-time Thermal Anomaly Detection &amp; Disaster Intelligence Platform</a:t>
            </a:r>
          </a:p>
          <a:p>
            <a:pPr algn="l">
              <a:lnSpc>
                <a:spcPts val="8783"/>
              </a:lnSpc>
              <a:defRPr sz="1300" b="1"/>
            </a:pPr>
            <a:r>
              <a:t>• Theme: Disaster Management &amp; Space Technology</a:t>
            </a:r>
          </a:p>
          <a:p>
            <a:pPr algn="l">
              <a:lnSpc>
                <a:spcPts val="8783"/>
              </a:lnSpc>
              <a:defRPr sz="1300" b="1"/>
            </a:pPr>
            <a:r>
              <a:t>• PS Category: Software  |  Project: FireSense (AeroThermal)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39210" y="56265"/>
            <a:ext cx="1440180" cy="1261872"/>
            <a:chOff x="0" y="0"/>
            <a:chExt cx="1920240" cy="1682496"/>
          </a:xfrm>
        </p:grpSpPr>
        <p:sp>
          <p:nvSpPr>
            <p:cNvPr name="Freeform 6" id="6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97192" y="1303020"/>
            <a:ext cx="8366760" cy="548640"/>
            <a:chOff x="0" y="0"/>
            <a:chExt cx="111556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7192" y="1303020"/>
            <a:ext cx="8366760" cy="548640"/>
            <a:chOff x="0" y="0"/>
            <a:chExt cx="1115568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 — Satellite-to-Ground Incident &amp; Disaster Response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58300" y="1645920"/>
            <a:ext cx="8572500" cy="548640"/>
            <a:chOff x="0" y="0"/>
            <a:chExt cx="114300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3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585216"/>
                  </a:lnTo>
                  <a:cubicBezTo>
                    <a:pt x="11430000" y="665988"/>
                    <a:pt x="11364468" y="731520"/>
                    <a:pt x="1128369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58300" y="1645920"/>
            <a:ext cx="8572500" cy="548640"/>
            <a:chOff x="0" y="0"/>
            <a:chExt cx="114300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0" b="-2544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430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→ Classify → Alert → Respond → Track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58300" y="2400300"/>
            <a:ext cx="1604772" cy="891540"/>
            <a:chOff x="0" y="0"/>
            <a:chExt cx="2139696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58300" y="2400300"/>
            <a:ext cx="1604772" cy="891540"/>
            <a:chOff x="0" y="0"/>
            <a:chExt cx="2139696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🔭 Detect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00232" y="2400300"/>
            <a:ext cx="1604772" cy="891540"/>
            <a:chOff x="0" y="0"/>
            <a:chExt cx="2139696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000232" y="2400300"/>
            <a:ext cx="1604772" cy="891540"/>
            <a:chOff x="0" y="0"/>
            <a:chExt cx="2139696" cy="1188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Classify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42164" y="2400300"/>
            <a:ext cx="1604772" cy="891540"/>
            <a:chOff x="0" y="0"/>
            <a:chExt cx="2139696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42164" y="2400300"/>
            <a:ext cx="1604772" cy="891540"/>
            <a:chOff x="0" y="0"/>
            <a:chExt cx="2139696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🚨 Alert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484096" y="2400300"/>
            <a:ext cx="1604772" cy="891540"/>
            <a:chOff x="0" y="0"/>
            <a:chExt cx="2139696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484096" y="2400300"/>
            <a:ext cx="1604772" cy="891540"/>
            <a:chOff x="0" y="0"/>
            <a:chExt cx="2139696" cy="1188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🚒 Respond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226028" y="2400300"/>
            <a:ext cx="1604772" cy="891540"/>
            <a:chOff x="0" y="0"/>
            <a:chExt cx="2139696" cy="1188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029968" y="0"/>
                  </a:lnTo>
                  <a:cubicBezTo>
                    <a:pt x="2090547" y="0"/>
                    <a:pt x="2139696" y="49149"/>
                    <a:pt x="2139696" y="109728"/>
                  </a:cubicBezTo>
                  <a:lnTo>
                    <a:pt x="2139696" y="1078992"/>
                  </a:lnTo>
                  <a:cubicBezTo>
                    <a:pt x="2139696" y="1139571"/>
                    <a:pt x="2090547" y="1188720"/>
                    <a:pt x="2029968" y="1188720"/>
                  </a:cubicBezTo>
                  <a:lnTo>
                    <a:pt x="109728" y="1188720"/>
                  </a:lnTo>
                  <a:cubicBezTo>
                    <a:pt x="49149" y="1188720"/>
                    <a:pt x="0" y="1139571"/>
                    <a:pt x="0" y="107899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226028" y="2400300"/>
            <a:ext cx="1604772" cy="891540"/>
            <a:chOff x="0" y="0"/>
            <a:chExt cx="2139696" cy="1188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969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139696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Track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58300" y="3634740"/>
            <a:ext cx="2720340" cy="2125980"/>
            <a:chOff x="0" y="0"/>
            <a:chExt cx="3627120" cy="2834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68028" y="3771900"/>
            <a:ext cx="2500884" cy="480060"/>
            <a:chOff x="0" y="0"/>
            <a:chExt cx="3334512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ROOM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92356" y="4526280"/>
            <a:ext cx="178308" cy="301752"/>
            <a:chOff x="0" y="0"/>
            <a:chExt cx="237744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7744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">
                  <a:moveTo>
                    <a:pt x="0" y="100584"/>
                  </a:moveTo>
                  <a:lnTo>
                    <a:pt x="118872" y="100584"/>
                  </a:lnTo>
                  <a:lnTo>
                    <a:pt x="118872" y="0"/>
                  </a:lnTo>
                  <a:lnTo>
                    <a:pt x="237744" y="201168"/>
                  </a:lnTo>
                  <a:lnTo>
                    <a:pt x="118872" y="402336"/>
                  </a:lnTo>
                  <a:lnTo>
                    <a:pt x="118872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184380" y="3634740"/>
            <a:ext cx="2720340" cy="2125980"/>
            <a:chOff x="0" y="0"/>
            <a:chExt cx="3627120" cy="2834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294108" y="3771900"/>
            <a:ext cx="2500884" cy="480060"/>
            <a:chOff x="0" y="0"/>
            <a:chExt cx="3334512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 STATION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918436" y="4526280"/>
            <a:ext cx="178308" cy="301752"/>
            <a:chOff x="0" y="0"/>
            <a:chExt cx="237744" cy="4023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" cy="402336"/>
            </a:xfrm>
            <a:custGeom>
              <a:avLst/>
              <a:gdLst/>
              <a:ahLst/>
              <a:cxnLst/>
              <a:rect r="r" b="b" t="t" l="l"/>
              <a:pathLst>
                <a:path h="402336" w="237744">
                  <a:moveTo>
                    <a:pt x="0" y="100584"/>
                  </a:moveTo>
                  <a:lnTo>
                    <a:pt x="118872" y="100584"/>
                  </a:lnTo>
                  <a:lnTo>
                    <a:pt x="118872" y="0"/>
                  </a:lnTo>
                  <a:lnTo>
                    <a:pt x="237744" y="201168"/>
                  </a:lnTo>
                  <a:lnTo>
                    <a:pt x="118872" y="402336"/>
                  </a:lnTo>
                  <a:lnTo>
                    <a:pt x="118872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110460" y="3634740"/>
            <a:ext cx="2720340" cy="2125980"/>
            <a:chOff x="0" y="0"/>
            <a:chExt cx="3627120" cy="2834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27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362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517392" y="0"/>
                  </a:lnTo>
                  <a:cubicBezTo>
                    <a:pt x="3577971" y="0"/>
                    <a:pt x="3627120" y="49149"/>
                    <a:pt x="3627120" y="109728"/>
                  </a:cubicBezTo>
                  <a:lnTo>
                    <a:pt x="3627120" y="2724912"/>
                  </a:lnTo>
                  <a:cubicBezTo>
                    <a:pt x="3627120" y="2785491"/>
                    <a:pt x="3577971" y="2834640"/>
                    <a:pt x="3517392" y="2834640"/>
                  </a:cubicBezTo>
                  <a:lnTo>
                    <a:pt x="109728" y="2834640"/>
                  </a:lnTo>
                  <a:cubicBezTo>
                    <a:pt x="49149" y="2834640"/>
                    <a:pt x="0" y="2785491"/>
                    <a:pt x="0" y="2724912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220188" y="3771900"/>
            <a:ext cx="2500884" cy="480060"/>
            <a:chOff x="0" y="0"/>
            <a:chExt cx="3334512" cy="640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334512" cy="640080"/>
            </a:xfrm>
            <a:custGeom>
              <a:avLst/>
              <a:gdLst/>
              <a:ahLst/>
              <a:cxnLst/>
              <a:rect r="r" b="b" t="t" l="l"/>
              <a:pathLst>
                <a:path h="640080" w="3334512">
                  <a:moveTo>
                    <a:pt x="0" y="0"/>
                  </a:moveTo>
                  <a:lnTo>
                    <a:pt x="3334512" y="0"/>
                  </a:lnTo>
                  <a:lnTo>
                    <a:pt x="3334512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07" r="0" b="-5150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3334512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FIELD TEAM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58300" y="5897880"/>
            <a:ext cx="8572500" cy="480060"/>
            <a:chOff x="0" y="0"/>
            <a:chExt cx="114300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1430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5A647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Live Status Sync — Control Room ⇄ Field Responder View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258300" y="6515100"/>
            <a:ext cx="8572500" cy="480060"/>
            <a:chOff x="0" y="0"/>
            <a:chExt cx="1143000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493776"/>
                  </a:lnTo>
                  <a:cubicBezTo>
                    <a:pt x="11430000" y="574548"/>
                    <a:pt x="11364468" y="640080"/>
                    <a:pt x="11283696" y="640080"/>
                  </a:cubicBezTo>
                  <a:lnTo>
                    <a:pt x="146304" y="640080"/>
                  </a:lnTo>
                  <a:cubicBezTo>
                    <a:pt x="65532" y="640080"/>
                    <a:pt x="0" y="574548"/>
                    <a:pt x="0" y="49377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258300" y="6515100"/>
            <a:ext cx="8572500" cy="480060"/>
            <a:chOff x="0" y="0"/>
            <a:chExt cx="1143000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430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14300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Demo Scenarios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43771" y="7128510"/>
            <a:ext cx="2101566" cy="1221429"/>
            <a:chOff x="0" y="0"/>
            <a:chExt cx="2718308" cy="15798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224284" y="7194883"/>
            <a:ext cx="1940541" cy="565549"/>
            <a:chOff x="0" y="0"/>
            <a:chExt cx="2510028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Similipal Forest Fire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24284" y="7703878"/>
            <a:ext cx="1940541" cy="565549"/>
            <a:chOff x="0" y="0"/>
            <a:chExt cx="2510028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WILDFIRE — 1,420 people at risk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395365" y="7128510"/>
            <a:ext cx="2101566" cy="1221429"/>
            <a:chOff x="0" y="0"/>
            <a:chExt cx="2718308" cy="15798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475877" y="7194883"/>
            <a:ext cx="1940541" cy="565549"/>
            <a:chOff x="0" y="0"/>
            <a:chExt cx="2510028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Jamnagar Refinery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475877" y="7703878"/>
            <a:ext cx="1940541" cy="565549"/>
            <a:chOff x="0" y="0"/>
            <a:chExt cx="2510028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FACTORY FLARE — zero threat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646958" y="7128510"/>
            <a:ext cx="2101566" cy="1221429"/>
            <a:chOff x="0" y="0"/>
            <a:chExt cx="2718308" cy="15798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3727470" y="7194883"/>
            <a:ext cx="1940541" cy="565549"/>
            <a:chOff x="0" y="0"/>
            <a:chExt cx="2510028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Punjab Farm Burning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727470" y="7703878"/>
            <a:ext cx="1940541" cy="565549"/>
            <a:chOff x="0" y="0"/>
            <a:chExt cx="2510028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CROP SMOKE — CAQM alert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898551" y="7128510"/>
            <a:ext cx="2101566" cy="1221429"/>
            <a:chOff x="0" y="0"/>
            <a:chExt cx="2718308" cy="15798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718308" cy="1579880"/>
            </a:xfrm>
            <a:custGeom>
              <a:avLst/>
              <a:gdLst/>
              <a:ahLst/>
              <a:cxnLst/>
              <a:rect r="r" b="b" t="t" l="l"/>
              <a:pathLst>
                <a:path h="1579880" w="2718308">
                  <a:moveTo>
                    <a:pt x="0" y="92964"/>
                  </a:moveTo>
                  <a:cubicBezTo>
                    <a:pt x="0" y="41656"/>
                    <a:pt x="41656" y="0"/>
                    <a:pt x="92964" y="0"/>
                  </a:cubicBezTo>
                  <a:lnTo>
                    <a:pt x="2625344" y="0"/>
                  </a:lnTo>
                  <a:cubicBezTo>
                    <a:pt x="2676652" y="0"/>
                    <a:pt x="2718308" y="41656"/>
                    <a:pt x="2718308" y="92964"/>
                  </a:cubicBezTo>
                  <a:lnTo>
                    <a:pt x="2718308" y="1486916"/>
                  </a:lnTo>
                  <a:cubicBezTo>
                    <a:pt x="2718308" y="1538224"/>
                    <a:pt x="2676652" y="1579880"/>
                    <a:pt x="2625344" y="1579880"/>
                  </a:cubicBezTo>
                  <a:lnTo>
                    <a:pt x="92964" y="1579880"/>
                  </a:lnTo>
                  <a:cubicBezTo>
                    <a:pt x="41656" y="1579880"/>
                    <a:pt x="0" y="1538224"/>
                    <a:pt x="0" y="148691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5979063" y="7194883"/>
            <a:ext cx="1940541" cy="565549"/>
            <a:chOff x="0" y="0"/>
            <a:chExt cx="2510028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Singrauli Hotspot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979063" y="7703878"/>
            <a:ext cx="1940541" cy="565549"/>
            <a:chOff x="0" y="0"/>
            <a:chExt cx="2510028" cy="7315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510028" cy="731520"/>
            </a:xfrm>
            <a:custGeom>
              <a:avLst/>
              <a:gdLst/>
              <a:ahLst/>
              <a:cxnLst/>
              <a:rect r="r" b="b" t="t" l="l"/>
              <a:pathLst>
                <a:path h="731520" w="2510028">
                  <a:moveTo>
                    <a:pt x="0" y="0"/>
                  </a:moveTo>
                  <a:lnTo>
                    <a:pt x="2510028" y="0"/>
                  </a:lnTo>
                  <a:lnTo>
                    <a:pt x="25100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58" r="0" b="-1685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2510028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9"/>
                </a:lnSpc>
              </a:pPr>
              <a:r>
                <a:rPr lang="en-US" sz="1324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UNKNOWN — NTRO / drone check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110" id="110"/>
          <p:cNvSpPr/>
          <p:nvPr/>
        </p:nvSpPr>
        <p:spPr>
          <a:xfrm flipH="false" flipV="false" rot="0">
            <a:off x="81915" y="4526280"/>
            <a:ext cx="6223635" cy="5050983"/>
          </a:xfrm>
          <a:custGeom>
            <a:avLst/>
            <a:gdLst/>
            <a:ahLst/>
            <a:cxnLst/>
            <a:rect r="r" b="b" t="t" l="l"/>
            <a:pathLst>
              <a:path h="5050983" w="6223635">
                <a:moveTo>
                  <a:pt x="0" y="0"/>
                </a:moveTo>
                <a:lnTo>
                  <a:pt x="6223635" y="0"/>
                </a:lnTo>
                <a:lnTo>
                  <a:pt x="6223635" y="5050983"/>
                </a:lnTo>
                <a:lnTo>
                  <a:pt x="0" y="5050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6562258" y="4558922"/>
            <a:ext cx="2257892" cy="4985700"/>
          </a:xfrm>
          <a:custGeom>
            <a:avLst/>
            <a:gdLst/>
            <a:ahLst/>
            <a:cxnLst/>
            <a:rect r="r" b="b" t="t" l="l"/>
            <a:pathLst>
              <a:path h="4985700" w="2257892">
                <a:moveTo>
                  <a:pt x="0" y="0"/>
                </a:moveTo>
                <a:lnTo>
                  <a:pt x="2257892" y="0"/>
                </a:lnTo>
                <a:lnTo>
                  <a:pt x="2257892" y="4985699"/>
                </a:lnTo>
                <a:lnTo>
                  <a:pt x="0" y="49856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397192" y="1840230"/>
            <a:ext cx="8366760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326" indent="-160163" lvl="1">
              <a:lnSpc>
                <a:spcPts val="2124"/>
              </a:lnSpc>
              <a:buFont typeface="Arial"/>
              <a:buChar char="•"/>
              <a:defRPr sz="1100"/>
            </a:pPr>
            <a:r>
              <a:t>Turns NASA FIRMS satellite hotspots into classified incidents — Wildfire, Industrial, Gas Flare, Crop Burning, or Illegal.</a:t>
            </a:r>
          </a:p>
          <a:p>
            <a:pPr algn="l" marL="320326" indent="-160163" lvl="1">
              <a:lnSpc>
                <a:spcPts val="2124"/>
              </a:lnSpc>
              <a:buFont typeface="Arial"/>
              <a:buChar char="•"/>
              <a:defRPr sz="1100"/>
            </a:pPr>
            <a:r>
              <a:t>End-to-End 3-Portal Ecosystem: NTRO Intelligence (Satellite AI) → Government Command (NDRF Dispatch) → Citizen Services (Ground Safety).</a:t>
            </a:r>
          </a:p>
          <a:p>
            <a:pPr algn="l" marL="320326" indent="-160163" lvl="1">
              <a:lnSpc>
                <a:spcPts val="2124"/>
              </a:lnSpc>
              <a:buFont typeface="Arial"/>
              <a:buChar char="•"/>
              <a:defRPr sz="1100"/>
            </a:pPr>
            <a:r>
              <a:t>False-alarm safeguard: Multi-pass repeat signal + facility cadastre match filters licensed flares (&gt;85% confidence threshold).</a:t>
            </a:r>
          </a:p>
          <a:p>
            <a:pPr algn="l" marL="320326" indent="-160163" lvl="1">
              <a:lnSpc>
                <a:spcPts val="2124"/>
              </a:lnSpc>
              <a:buFont typeface="Arial"/>
              <a:buChar char="•"/>
              <a:defRPr sz="1100"/>
            </a:pPr>
            <a:r>
              <a:t>Zero-Data Life Safety: Offline SMS broadcast (1078) and vernacular safe routing (Hindi/Odia/English) when internet towers fail.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9368028" y="4291965"/>
            <a:ext cx="2500884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t>🛰️ NTRO Intelligence</a:t>
            </a:r>
          </a:p>
          <a:p>
            <a:pPr algn="ctr">
              <a:lnSpc>
                <a:spcPts val="1620"/>
              </a:lnSpc>
            </a:pPr>
            <a:r>
              <a:t>VIIRS/MODIS 375m pass, 97.6% auto-classification, 91% confidence &amp; wind-spread vector.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2294108" y="4291965"/>
            <a:ext cx="2500884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t>🏛️ Government Command</a:t>
            </a:r>
          </a:p>
          <a:p>
            <a:pPr algn="ctr">
              <a:lnSpc>
                <a:spcPts val="1620"/>
              </a:lnSpc>
            </a:pPr>
            <a:r>
              <a:t>Real-time situational awareness, 4-state tracking, NDRF resource bars, &amp; 1-click dispatch.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5220188" y="4291965"/>
            <a:ext cx="2500884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t>👥 Citizen Services</a:t>
            </a:r>
          </a:p>
          <a:p>
            <a:pPr algn="ctr">
              <a:lnSpc>
                <a:spcPts val="1620"/>
              </a:lnSpc>
            </a:pPr>
            <a:r>
              <a:t>Multi-language (English/Hindi/Odia), 1-tap SOS rescue triage, safe evacuation path, &amp; SMS 1078.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289574" y="3977640"/>
            <a:ext cx="7930991" cy="520065"/>
            <a:chOff x="0" y="0"/>
            <a:chExt cx="11155680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289574" y="3977640"/>
            <a:ext cx="7930991" cy="520065"/>
            <a:chOff x="0" y="0"/>
            <a:chExt cx="11155680" cy="7315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Website &amp; APP UI 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0" y="-55359"/>
            <a:ext cx="3115276" cy="1329804"/>
            <a:chOff x="0" y="0"/>
            <a:chExt cx="2722880" cy="116230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722880" cy="1162304"/>
            </a:xfrm>
            <a:custGeom>
              <a:avLst/>
              <a:gdLst/>
              <a:ahLst/>
              <a:cxnLst/>
              <a:rect r="r" b="b" t="t" l="l"/>
              <a:pathLst>
                <a:path h="1162304" w="2722880">
                  <a:moveTo>
                    <a:pt x="0" y="0"/>
                  </a:moveTo>
                  <a:lnTo>
                    <a:pt x="2722880" y="0"/>
                  </a:lnTo>
                  <a:lnTo>
                    <a:pt x="2722880" y="1162304"/>
                  </a:lnTo>
                  <a:lnTo>
                    <a:pt x="0" y="116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192" y="287464"/>
            <a:ext cx="2360295" cy="878967"/>
            <a:chOff x="0" y="0"/>
            <a:chExt cx="3147060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7060" cy="1171956"/>
            </a:xfrm>
            <a:custGeom>
              <a:avLst/>
              <a:gdLst/>
              <a:ahLst/>
              <a:cxnLst/>
              <a:rect r="r" b="b" t="t" l="l"/>
              <a:pathLst>
                <a:path h="1171956" w="3147060">
                  <a:moveTo>
                    <a:pt x="0" y="585978"/>
                  </a:moveTo>
                  <a:cubicBezTo>
                    <a:pt x="0" y="262382"/>
                    <a:pt x="704469" y="0"/>
                    <a:pt x="1573530" y="0"/>
                  </a:cubicBezTo>
                  <a:cubicBezTo>
                    <a:pt x="2442591" y="0"/>
                    <a:pt x="3147060" y="262382"/>
                    <a:pt x="3147060" y="585978"/>
                  </a:cubicBezTo>
                  <a:cubicBezTo>
                    <a:pt x="3147060" y="909574"/>
                    <a:pt x="2442591" y="1171956"/>
                    <a:pt x="1573530" y="1171956"/>
                  </a:cubicBezTo>
                  <a:cubicBezTo>
                    <a:pt x="704469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301752"/>
            <a:ext cx="2331720" cy="850392"/>
            <a:chOff x="0" y="0"/>
            <a:chExt cx="310896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089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11" id="11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156510" y="1850187"/>
            <a:ext cx="17479517" cy="18915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66040" y="2106532"/>
            <a:ext cx="12617532" cy="548640"/>
            <a:chOff x="0" y="0"/>
            <a:chExt cx="16823376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823378" cy="731520"/>
            </a:xfrm>
            <a:custGeom>
              <a:avLst/>
              <a:gdLst/>
              <a:ahLst/>
              <a:cxnLst/>
              <a:rect r="r" b="b" t="t" l="l"/>
              <a:pathLst>
                <a:path h="731520" w="16823378">
                  <a:moveTo>
                    <a:pt x="0" y="146304"/>
                  </a:moveTo>
                  <a:cubicBezTo>
                    <a:pt x="0" y="65532"/>
                    <a:pt x="47468" y="0"/>
                    <a:pt x="105974" y="0"/>
                  </a:cubicBezTo>
                  <a:lnTo>
                    <a:pt x="16717403" y="0"/>
                  </a:lnTo>
                  <a:cubicBezTo>
                    <a:pt x="16775909" y="0"/>
                    <a:pt x="16823378" y="65532"/>
                    <a:pt x="16823378" y="146304"/>
                  </a:cubicBezTo>
                  <a:lnTo>
                    <a:pt x="16823378" y="585216"/>
                  </a:lnTo>
                  <a:cubicBezTo>
                    <a:pt x="16823378" y="665988"/>
                    <a:pt x="16775909" y="731520"/>
                    <a:pt x="16717403" y="731520"/>
                  </a:cubicBezTo>
                  <a:lnTo>
                    <a:pt x="105974" y="731520"/>
                  </a:lnTo>
                  <a:cubicBezTo>
                    <a:pt x="47468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6040" y="2106532"/>
            <a:ext cx="7746469" cy="548640"/>
            <a:chOff x="0" y="0"/>
            <a:chExt cx="10328626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28626" cy="731520"/>
            </a:xfrm>
            <a:custGeom>
              <a:avLst/>
              <a:gdLst/>
              <a:ahLst/>
              <a:cxnLst/>
              <a:rect r="r" b="b" t="t" l="l"/>
              <a:pathLst>
                <a:path h="731520" w="10328626">
                  <a:moveTo>
                    <a:pt x="0" y="0"/>
                  </a:moveTo>
                  <a:lnTo>
                    <a:pt x="10328626" y="0"/>
                  </a:lnTo>
                  <a:lnTo>
                    <a:pt x="1032862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-124867" b="-5686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32862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Scoring &amp; Confidence-Gated Alert Pipeline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91277" y="5353428"/>
            <a:ext cx="7169459" cy="685800"/>
            <a:chOff x="0" y="0"/>
            <a:chExt cx="9559279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59279" cy="914400"/>
            </a:xfrm>
            <a:custGeom>
              <a:avLst/>
              <a:gdLst/>
              <a:ahLst/>
              <a:cxnLst/>
              <a:rect r="r" b="b" t="t" l="l"/>
              <a:pathLst>
                <a:path h="914400" w="9559279">
                  <a:moveTo>
                    <a:pt x="0" y="146304"/>
                  </a:moveTo>
                  <a:cubicBezTo>
                    <a:pt x="0" y="65532"/>
                    <a:pt x="55249" y="0"/>
                    <a:pt x="123346" y="0"/>
                  </a:cubicBezTo>
                  <a:lnTo>
                    <a:pt x="9435933" y="0"/>
                  </a:lnTo>
                  <a:cubicBezTo>
                    <a:pt x="9504030" y="0"/>
                    <a:pt x="9559279" y="65532"/>
                    <a:pt x="9559279" y="146304"/>
                  </a:cubicBezTo>
                  <a:lnTo>
                    <a:pt x="9559279" y="768096"/>
                  </a:lnTo>
                  <a:cubicBezTo>
                    <a:pt x="9559279" y="848868"/>
                    <a:pt x="9504030" y="914400"/>
                    <a:pt x="9435933" y="914400"/>
                  </a:cubicBezTo>
                  <a:lnTo>
                    <a:pt x="123346" y="914400"/>
                  </a:lnTo>
                  <a:cubicBezTo>
                    <a:pt x="55249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9259" y="5353428"/>
            <a:ext cx="7038922" cy="685800"/>
            <a:chOff x="0" y="0"/>
            <a:chExt cx="9385229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85229" cy="914400"/>
            </a:xfrm>
            <a:custGeom>
              <a:avLst/>
              <a:gdLst/>
              <a:ahLst/>
              <a:cxnLst/>
              <a:rect r="r" b="b" t="t" l="l"/>
              <a:pathLst>
                <a:path h="914400" w="9385229">
                  <a:moveTo>
                    <a:pt x="0" y="0"/>
                  </a:moveTo>
                  <a:lnTo>
                    <a:pt x="9385229" y="0"/>
                  </a:lnTo>
                  <a:lnTo>
                    <a:pt x="938522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-20812" b="-19161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385229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Confidence Gate: &gt;85% → Direct Fire-Brigade Alert · &lt;85% → Drone Verification First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78181" y="5353428"/>
            <a:ext cx="5757308" cy="685800"/>
            <a:chOff x="0" y="0"/>
            <a:chExt cx="7676411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76411" cy="914400"/>
            </a:xfrm>
            <a:custGeom>
              <a:avLst/>
              <a:gdLst/>
              <a:ahLst/>
              <a:cxnLst/>
              <a:rect r="r" b="b" t="t" l="l"/>
              <a:pathLst>
                <a:path h="914400" w="7676411">
                  <a:moveTo>
                    <a:pt x="0" y="146304"/>
                  </a:moveTo>
                  <a:cubicBezTo>
                    <a:pt x="0" y="65532"/>
                    <a:pt x="44366" y="0"/>
                    <a:pt x="99050" y="0"/>
                  </a:cubicBezTo>
                  <a:lnTo>
                    <a:pt x="7577361" y="0"/>
                  </a:lnTo>
                  <a:cubicBezTo>
                    <a:pt x="7632044" y="0"/>
                    <a:pt x="7676411" y="65532"/>
                    <a:pt x="7676411" y="146304"/>
                  </a:cubicBezTo>
                  <a:lnTo>
                    <a:pt x="7676411" y="768096"/>
                  </a:lnTo>
                  <a:cubicBezTo>
                    <a:pt x="7676411" y="848868"/>
                    <a:pt x="7632044" y="914400"/>
                    <a:pt x="7577361" y="914400"/>
                  </a:cubicBezTo>
                  <a:lnTo>
                    <a:pt x="99050" y="914400"/>
                  </a:lnTo>
                  <a:cubicBezTo>
                    <a:pt x="44366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078181" y="5353428"/>
            <a:ext cx="5757308" cy="685800"/>
            <a:chOff x="0" y="0"/>
            <a:chExt cx="7676411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76411" cy="914400"/>
            </a:xfrm>
            <a:custGeom>
              <a:avLst/>
              <a:gdLst/>
              <a:ahLst/>
              <a:cxnLst/>
              <a:rect r="r" b="b" t="t" l="l"/>
              <a:pathLst>
                <a:path h="914400" w="7676411">
                  <a:moveTo>
                    <a:pt x="0" y="0"/>
                  </a:moveTo>
                  <a:lnTo>
                    <a:pt x="7676411" y="0"/>
                  </a:lnTo>
                  <a:lnTo>
                    <a:pt x="767641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614" r="-47706" b="-19161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676411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Persistence Check: Fire Frequency vs 60-Day Baseline (Anomaly Flag)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7770363"/>
            <a:ext cx="12450503" cy="392142"/>
            <a:chOff x="0" y="0"/>
            <a:chExt cx="2322576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079456" y="0"/>
                  </a:lnTo>
                  <a:cubicBezTo>
                    <a:pt x="23160228" y="0"/>
                    <a:pt x="23225761" y="65532"/>
                    <a:pt x="23225761" y="146304"/>
                  </a:cubicBezTo>
                  <a:lnTo>
                    <a:pt x="23225761" y="585216"/>
                  </a:lnTo>
                  <a:cubicBezTo>
                    <a:pt x="23225761" y="665988"/>
                    <a:pt x="23160228" y="731520"/>
                    <a:pt x="2307945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0" y="7770363"/>
            <a:ext cx="12450503" cy="392142"/>
            <a:chOff x="0" y="0"/>
            <a:chExt cx="232257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0"/>
                  </a:moveTo>
                  <a:lnTo>
                    <a:pt x="23225761" y="0"/>
                  </a:lnTo>
                  <a:lnTo>
                    <a:pt x="23225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0" b="-56864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3225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3377740" y="8243359"/>
            <a:ext cx="7146910" cy="1357841"/>
          </a:xfrm>
          <a:custGeom>
            <a:avLst/>
            <a:gdLst/>
            <a:ahLst/>
            <a:cxnLst/>
            <a:rect r="r" b="b" t="t" l="l"/>
            <a:pathLst>
              <a:path h="1357841" w="7146910">
                <a:moveTo>
                  <a:pt x="0" y="0"/>
                </a:moveTo>
                <a:lnTo>
                  <a:pt x="7146911" y="0"/>
                </a:lnTo>
                <a:lnTo>
                  <a:pt x="7146911" y="1357841"/>
                </a:lnTo>
                <a:lnTo>
                  <a:pt x="0" y="1357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7" r="0" b="-25765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-27144" y="2874247"/>
            <a:ext cx="2436908" cy="2383931"/>
            <a:chOff x="0" y="0"/>
            <a:chExt cx="4206240" cy="4114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7024" y="3033176"/>
            <a:ext cx="508572" cy="508572"/>
            <a:chOff x="0" y="0"/>
            <a:chExt cx="877824" cy="8778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7024" y="3033176"/>
            <a:ext cx="508572" cy="508572"/>
            <a:chOff x="0" y="0"/>
            <a:chExt cx="877824" cy="8778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7618" y="3637105"/>
            <a:ext cx="2267384" cy="423810"/>
            <a:chOff x="0" y="0"/>
            <a:chExt cx="3913632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Satellite Detect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420359" y="3960260"/>
            <a:ext cx="148334" cy="211905"/>
            <a:chOff x="0" y="0"/>
            <a:chExt cx="256032" cy="3657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579287" y="2874247"/>
            <a:ext cx="2436908" cy="2383931"/>
            <a:chOff x="0" y="0"/>
            <a:chExt cx="4206240" cy="4114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543455" y="3033176"/>
            <a:ext cx="508572" cy="508572"/>
            <a:chOff x="0" y="0"/>
            <a:chExt cx="877824" cy="87782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543455" y="3033176"/>
            <a:ext cx="508572" cy="508572"/>
            <a:chOff x="0" y="0"/>
            <a:chExt cx="877824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C3A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664049" y="3637105"/>
            <a:ext cx="2267384" cy="423810"/>
            <a:chOff x="0" y="0"/>
            <a:chExt cx="3913632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Classify + Score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026790" y="3960260"/>
            <a:ext cx="148334" cy="211905"/>
            <a:chOff x="0" y="0"/>
            <a:chExt cx="256032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5185719" y="2874247"/>
            <a:ext cx="2436908" cy="2383931"/>
            <a:chOff x="0" y="0"/>
            <a:chExt cx="4206240" cy="4114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149887" y="3033176"/>
            <a:ext cx="508572" cy="508572"/>
            <a:chOff x="0" y="0"/>
            <a:chExt cx="877824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49887" y="3033176"/>
            <a:ext cx="508572" cy="508572"/>
            <a:chOff x="0" y="0"/>
            <a:chExt cx="877824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6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270481" y="3637105"/>
            <a:ext cx="2267384" cy="423810"/>
            <a:chOff x="0" y="0"/>
            <a:chExt cx="3913632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Verify Confidence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633222" y="3960260"/>
            <a:ext cx="148334" cy="211905"/>
            <a:chOff x="0" y="0"/>
            <a:chExt cx="256032" cy="3657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792150" y="2874247"/>
            <a:ext cx="2436908" cy="2383931"/>
            <a:chOff x="0" y="0"/>
            <a:chExt cx="4206240" cy="4114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756318" y="3033176"/>
            <a:ext cx="508572" cy="508572"/>
            <a:chOff x="0" y="0"/>
            <a:chExt cx="877824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756318" y="3033176"/>
            <a:ext cx="508572" cy="508572"/>
            <a:chOff x="0" y="0"/>
            <a:chExt cx="877824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876912" y="3637105"/>
            <a:ext cx="2267384" cy="423810"/>
            <a:chOff x="0" y="0"/>
            <a:chExt cx="3913632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&amp; Spread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239653" y="3960260"/>
            <a:ext cx="148334" cy="211905"/>
            <a:chOff x="0" y="0"/>
            <a:chExt cx="256032" cy="3657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" cy="365760"/>
            </a:xfrm>
            <a:custGeom>
              <a:avLst/>
              <a:gdLst/>
              <a:ahLst/>
              <a:cxnLst/>
              <a:rect r="r" b="b" t="t" l="l"/>
              <a:pathLst>
                <a:path h="365760" w="256032">
                  <a:moveTo>
                    <a:pt x="0" y="91440"/>
                  </a:moveTo>
                  <a:lnTo>
                    <a:pt x="128016" y="91440"/>
                  </a:lnTo>
                  <a:lnTo>
                    <a:pt x="128016" y="0"/>
                  </a:lnTo>
                  <a:lnTo>
                    <a:pt x="256032" y="182880"/>
                  </a:lnTo>
                  <a:lnTo>
                    <a:pt x="128016" y="365760"/>
                  </a:lnTo>
                  <a:lnTo>
                    <a:pt x="128016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5A6472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398582" y="2874247"/>
            <a:ext cx="2436908" cy="2383931"/>
            <a:chOff x="0" y="0"/>
            <a:chExt cx="4206240" cy="4114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206240" cy="4114800"/>
            </a:xfrm>
            <a:custGeom>
              <a:avLst/>
              <a:gdLst/>
              <a:ahLst/>
              <a:cxnLst/>
              <a:rect r="r" b="b" t="t" l="l"/>
              <a:pathLst>
                <a:path h="4114800" w="4206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59936" y="0"/>
                  </a:lnTo>
                  <a:cubicBezTo>
                    <a:pt x="4140708" y="0"/>
                    <a:pt x="4206240" y="65532"/>
                    <a:pt x="4206240" y="146304"/>
                  </a:cubicBezTo>
                  <a:lnTo>
                    <a:pt x="4206240" y="3968496"/>
                  </a:lnTo>
                  <a:cubicBezTo>
                    <a:pt x="4206240" y="4049268"/>
                    <a:pt x="4140708" y="4114800"/>
                    <a:pt x="4059936" y="4114800"/>
                  </a:cubicBezTo>
                  <a:lnTo>
                    <a:pt x="146304" y="4114800"/>
                  </a:lnTo>
                  <a:cubicBezTo>
                    <a:pt x="65532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2E8B57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362750" y="3033176"/>
            <a:ext cx="508572" cy="508572"/>
            <a:chOff x="0" y="0"/>
            <a:chExt cx="877824" cy="87782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1362750" y="3033176"/>
            <a:ext cx="508572" cy="508572"/>
            <a:chOff x="0" y="0"/>
            <a:chExt cx="877824" cy="87782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877824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2E8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483344" y="3637105"/>
            <a:ext cx="2267384" cy="423810"/>
            <a:chOff x="0" y="0"/>
            <a:chExt cx="3913632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913632" cy="731520"/>
            </a:xfrm>
            <a:custGeom>
              <a:avLst/>
              <a:gdLst/>
              <a:ahLst/>
              <a:cxnLst/>
              <a:rect r="r" b="b" t="t" l="l"/>
              <a:pathLst>
                <a:path h="731520" w="3913632">
                  <a:moveTo>
                    <a:pt x="0" y="0"/>
                  </a:moveTo>
                  <a:lnTo>
                    <a:pt x="3913632" y="0"/>
                  </a:lnTo>
                  <a:lnTo>
                    <a:pt x="39136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44" r="0" b="-5424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39136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&amp; Track</a:t>
              </a:r>
            </a:p>
          </p:txBody>
        </p:sp>
      </p:grpSp>
      <p:sp>
        <p:nvSpPr>
          <p:cNvPr name="Freeform 100" id="100"/>
          <p:cNvSpPr/>
          <p:nvPr/>
        </p:nvSpPr>
        <p:spPr>
          <a:xfrm flipH="false" flipV="false" rot="0">
            <a:off x="13297807" y="1967758"/>
            <a:ext cx="4338225" cy="7290542"/>
          </a:xfrm>
          <a:custGeom>
            <a:avLst/>
            <a:gdLst/>
            <a:ahLst/>
            <a:cxnLst/>
            <a:rect r="r" b="b" t="t" l="l"/>
            <a:pathLst>
              <a:path h="7290542" w="4338225">
                <a:moveTo>
                  <a:pt x="0" y="0"/>
                </a:moveTo>
                <a:lnTo>
                  <a:pt x="4338226" y="0"/>
                </a:lnTo>
                <a:lnTo>
                  <a:pt x="4338226" y="7290542"/>
                </a:lnTo>
                <a:lnTo>
                  <a:pt x="0" y="72905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52" t="0" r="-9501" b="0"/>
            </a:stretch>
          </a:blipFill>
        </p:spPr>
      </p:sp>
      <p:sp>
        <p:nvSpPr>
          <p:cNvPr name="TextBox 101" id="101"/>
          <p:cNvSpPr txBox="true"/>
          <p:nvPr/>
        </p:nvSpPr>
        <p:spPr>
          <a:xfrm rot="0">
            <a:off x="57618" y="4073651"/>
            <a:ext cx="2267384" cy="10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</a:pPr>
            <a:r>
              <a:t>NASA FIRMS Hotspot Ingestion</a:t>
            </a:r>
          </a:p>
          <a:p>
            <a:pPr algn="ctr">
              <a:lnSpc>
                <a:spcPts val="1293"/>
              </a:lnSpc>
            </a:pPr>
            <a:r>
              <a:t>(VIIRS 375m &amp; MODIS 1km, 3-hr pass)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664049" y="4073651"/>
            <a:ext cx="2267384" cy="10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</a:pPr>
            <a:r>
              <a:t>AI Multi-Class Categorization</a:t>
            </a:r>
          </a:p>
          <a:p>
            <a:pPr algn="ctr">
              <a:lnSpc>
                <a:spcPts val="1293"/>
              </a:lnSpc>
            </a:pPr>
            <a:r>
              <a:t>Wildfire / Industrial / Flare / Crop-Burn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270481" y="4073651"/>
            <a:ext cx="2267384" cy="10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</a:pPr>
            <a:r>
              <a:t>Confidence &amp; Threat Gating</a:t>
            </a:r>
          </a:p>
          <a:p>
            <a:pPr algn="ctr">
              <a:lnSpc>
                <a:spcPts val="1293"/>
              </a:lnSpc>
            </a:pPr>
            <a:r>
              <a:t>Peak temp (623°C), repeat pass &amp; cadastre match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7876912" y="4073651"/>
            <a:ext cx="2267384" cy="10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</a:pPr>
            <a:r>
              <a:t>Downwind Spread &amp; Impact Mapping</a:t>
            </a:r>
          </a:p>
          <a:p>
            <a:pPr algn="ctr">
              <a:lnSpc>
                <a:spcPts val="1293"/>
              </a:lnSpc>
            </a:pPr>
            <a:r>
              <a:t>Surface wind vector + population at risk (398K)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0483344" y="4073651"/>
            <a:ext cx="2267384" cy="34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</a:pPr>
            <a:r>
              <a:t>Actionable Dispatch &amp; Relief Sync</a:t>
            </a:r>
          </a:p>
          <a:p>
            <a:pPr algn="ctr">
              <a:lnSpc>
                <a:spcPts val="1293"/>
              </a:lnSpc>
            </a:pPr>
            <a:r>
              <a:t>NDRF deployment, safe citizen routing &amp; SMS 1078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192" y="287464"/>
            <a:ext cx="2360295" cy="878967"/>
            <a:chOff x="0" y="0"/>
            <a:chExt cx="3147060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7060" cy="1171956"/>
            </a:xfrm>
            <a:custGeom>
              <a:avLst/>
              <a:gdLst/>
              <a:ahLst/>
              <a:cxnLst/>
              <a:rect r="r" b="b" t="t" l="l"/>
              <a:pathLst>
                <a:path h="1171956" w="3147060">
                  <a:moveTo>
                    <a:pt x="0" y="585978"/>
                  </a:moveTo>
                  <a:cubicBezTo>
                    <a:pt x="0" y="262382"/>
                    <a:pt x="704469" y="0"/>
                    <a:pt x="1573530" y="0"/>
                  </a:cubicBezTo>
                  <a:cubicBezTo>
                    <a:pt x="2442591" y="0"/>
                    <a:pt x="3147060" y="262382"/>
                    <a:pt x="3147060" y="585978"/>
                  </a:cubicBezTo>
                  <a:cubicBezTo>
                    <a:pt x="3147060" y="909574"/>
                    <a:pt x="2442591" y="1171956"/>
                    <a:pt x="1573530" y="1171956"/>
                  </a:cubicBezTo>
                  <a:cubicBezTo>
                    <a:pt x="704469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301752"/>
            <a:ext cx="2331720" cy="850392"/>
            <a:chOff x="0" y="0"/>
            <a:chExt cx="310896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089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11" id="11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1112067" y="2815984"/>
            <a:ext cx="8604273" cy="1356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20799" y="1942898"/>
            <a:ext cx="4219803" cy="393323"/>
            <a:chOff x="0" y="0"/>
            <a:chExt cx="7848185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7041" y="1865644"/>
            <a:ext cx="4219803" cy="547833"/>
            <a:chOff x="0" y="0"/>
            <a:chExt cx="7848185" cy="10188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48185" cy="1018884"/>
            </a:xfrm>
            <a:custGeom>
              <a:avLst/>
              <a:gdLst/>
              <a:ahLst/>
              <a:cxnLst/>
              <a:rect r="r" b="b" t="t" l="l"/>
              <a:pathLst>
                <a:path h="1018884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1018884"/>
                  </a:lnTo>
                  <a:lnTo>
                    <a:pt x="0" y="1018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688" r="-45638" b="-1544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848185" cy="10665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75637" y="1942898"/>
            <a:ext cx="4219803" cy="393323"/>
            <a:chOff x="0" y="0"/>
            <a:chExt cx="7848185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575637" y="1942898"/>
            <a:ext cx="4219803" cy="393323"/>
            <a:chOff x="0" y="0"/>
            <a:chExt cx="7848185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0799" y="6302476"/>
            <a:ext cx="4219803" cy="393323"/>
            <a:chOff x="0" y="0"/>
            <a:chExt cx="7848185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87041" y="6315117"/>
            <a:ext cx="4219803" cy="393323"/>
            <a:chOff x="0" y="0"/>
            <a:chExt cx="7848185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&amp; RISKS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609395" y="6302476"/>
            <a:ext cx="4219803" cy="393323"/>
            <a:chOff x="0" y="0"/>
            <a:chExt cx="7848185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146304"/>
                  </a:moveTo>
                  <a:cubicBezTo>
                    <a:pt x="0" y="65532"/>
                    <a:pt x="44996" y="0"/>
                    <a:pt x="100457" y="0"/>
                  </a:cubicBezTo>
                  <a:lnTo>
                    <a:pt x="7747728" y="0"/>
                  </a:lnTo>
                  <a:cubicBezTo>
                    <a:pt x="7803189" y="0"/>
                    <a:pt x="7848185" y="65532"/>
                    <a:pt x="7848185" y="146304"/>
                  </a:cubicBezTo>
                  <a:lnTo>
                    <a:pt x="7848185" y="585216"/>
                  </a:lnTo>
                  <a:cubicBezTo>
                    <a:pt x="7848185" y="665988"/>
                    <a:pt x="7803189" y="731520"/>
                    <a:pt x="7747728" y="731520"/>
                  </a:cubicBezTo>
                  <a:lnTo>
                    <a:pt x="100457" y="731520"/>
                  </a:lnTo>
                  <a:cubicBezTo>
                    <a:pt x="44996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B62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609395" y="6302476"/>
            <a:ext cx="4219803" cy="393323"/>
            <a:chOff x="0" y="0"/>
            <a:chExt cx="7848185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48185" cy="731520"/>
            </a:xfrm>
            <a:custGeom>
              <a:avLst/>
              <a:gdLst/>
              <a:ahLst/>
              <a:cxnLst/>
              <a:rect r="r" b="b" t="t" l="l"/>
              <a:pathLst>
                <a:path h="731520" w="7848185">
                  <a:moveTo>
                    <a:pt x="0" y="0"/>
                  </a:moveTo>
                  <a:lnTo>
                    <a:pt x="7848185" y="0"/>
                  </a:lnTo>
                  <a:lnTo>
                    <a:pt x="784818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453" r="-45638" b="-2544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84818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8524324" y="2413476"/>
            <a:ext cx="9309042" cy="6442316"/>
          </a:xfrm>
          <a:custGeom>
            <a:avLst/>
            <a:gdLst/>
            <a:ahLst/>
            <a:cxnLst/>
            <a:rect r="r" b="b" t="t" l="l"/>
            <a:pathLst>
              <a:path h="6442316" w="9309042">
                <a:moveTo>
                  <a:pt x="0" y="0"/>
                </a:moveTo>
                <a:lnTo>
                  <a:pt x="9309042" y="0"/>
                </a:lnTo>
                <a:lnTo>
                  <a:pt x="9309042" y="6442316"/>
                </a:lnTo>
                <a:lnTo>
                  <a:pt x="0" y="64423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54558" y="2288596"/>
            <a:ext cx="4152287" cy="284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3972" indent="-166986" lvl="1">
              <a:lnSpc>
                <a:spcPts val="2214"/>
              </a:lnSpc>
              <a:buFont typeface="Arial"/>
              <a:buChar char="•"/>
              <a:defRPr sz="1000"/>
            </a:pPr>
            <a:r>
              <a:t>Operates on NASA FIRMS near-real-time satellite telemetry, OpenStreetMap, and Open-Meteo weather APIs.</a:t>
            </a:r>
          </a:p>
          <a:p>
            <a:pPr algn="l" marL="333972" indent="-166986" lvl="1">
              <a:lnSpc>
                <a:spcPts val="2214"/>
              </a:lnSpc>
              <a:buFont typeface="Arial"/>
              <a:buChar char="•"/>
              <a:defRPr sz="1000"/>
            </a:pPr>
            <a:r>
              <a:t>Zero new sensor deployment: Leverages pre-existing space orbits and standard mobile browsers with offline SMS gateway.</a:t>
            </a:r>
          </a:p>
          <a:p>
            <a:pPr algn="l" marL="333972" indent="-166986" lvl="1">
              <a:lnSpc>
                <a:spcPts val="2214"/>
              </a:lnSpc>
              <a:buFont typeface="Arial"/>
              <a:buChar char="•"/>
              <a:defRPr sz="1000"/>
            </a:pPr>
            <a:r>
              <a:t>Live working prototype deployed on edge infrastructure (sih-thermal-intel.vercel.app) with full 3-portal sync.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09395" y="2436092"/>
            <a:ext cx="4152287" cy="284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3972" indent="-166986" lvl="1">
              <a:lnSpc>
                <a:spcPts val="2214"/>
              </a:lnSpc>
              <a:buFont typeface="Arial"/>
              <a:buChar char="•"/>
              <a:defRPr sz="1000"/>
            </a:pPr>
            <a:r>
              <a:t>Unified 3-tier operational hierarchy: NTRO Space Analysts → State Incident Commanders → NDRF/Fire → Local Citizens.</a:t>
            </a:r>
          </a:p>
          <a:p>
            <a:pPr algn="l" marL="333972" indent="-166986" lvl="1">
              <a:lnSpc>
                <a:spcPts val="2214"/>
              </a:lnSpc>
              <a:buFont typeface="Arial"/>
              <a:buChar char="•"/>
              <a:defRPr sz="1000"/>
            </a:pPr>
            <a:r>
              <a:t>Scalable to all Indian states: Pre-mapped zones across Odisha, Gujarat, Punjab, and Haryana industrial/forest corridors.</a:t>
            </a:r>
          </a:p>
          <a:p>
            <a:pPr algn="l" marL="333972" indent="-166986" lvl="1">
              <a:lnSpc>
                <a:spcPts val="2214"/>
              </a:lnSpc>
              <a:buFont typeface="Arial"/>
              <a:buChar char="•"/>
              <a:defRPr sz="1000"/>
            </a:pPr>
            <a:r>
              <a:t>Audit &amp; reporting compliance: Downloadable executive command memos, GeoJSON corridors, and live status logs.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8316" y="6902551"/>
            <a:ext cx="4152287" cy="239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844" indent="-158422" lvl="1">
              <a:lnSpc>
                <a:spcPts val="2100"/>
              </a:lnSpc>
              <a:buFont typeface="Arial"/>
              <a:buChar char="•"/>
              <a:defRPr sz="1000"/>
            </a:pPr>
            <a:r>
              <a:t>Distinguishing routine licensed industrial flares (e.g. Jamnagar/Mehsana) from uncontrolled forest wildfires.</a:t>
            </a:r>
          </a:p>
          <a:p>
            <a:pPr algn="l" marL="316844" indent="-158422" lvl="1">
              <a:lnSpc>
                <a:spcPts val="2100"/>
              </a:lnSpc>
              <a:buFont typeface="Arial"/>
              <a:buChar char="•"/>
              <a:defRPr sz="1000"/>
            </a:pPr>
            <a:r>
              <a:t>Field internet connectivity failure in remote forest reserves during active disasters preventing app usage.</a:t>
            </a:r>
          </a:p>
          <a:p>
            <a:pPr algn="l" marL="316844" indent="-158422" lvl="1">
              <a:lnSpc>
                <a:spcPts val="2100"/>
              </a:lnSpc>
              <a:buFont typeface="Arial"/>
              <a:buChar char="•"/>
              <a:defRPr sz="1000"/>
            </a:pPr>
            <a:r>
              <a:t>Coordination latency across multiple civil and defense agencies (NDRF, State Police, Forest Dept, District Collectors).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831693" y="6867260"/>
            <a:ext cx="4152287" cy="239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844" indent="-158422" lvl="1">
              <a:lnSpc>
                <a:spcPts val="2100"/>
              </a:lnSpc>
              <a:buFont typeface="Arial"/>
              <a:buChar char="•"/>
              <a:defRPr sz="1000"/>
            </a:pPr>
            <a:r>
              <a:t>AI Confidence Engine (&gt;85% auto-dispatch, &lt;85% drone scout) + National Industrial Cadastre facility database matching.</a:t>
            </a:r>
          </a:p>
          <a:p>
            <a:pPr algn="l" marL="316844" indent="-158422" lvl="1">
              <a:lnSpc>
                <a:spcPts val="2100"/>
              </a:lnSpc>
              <a:buFont typeface="Arial"/>
              <a:buChar char="•"/>
              <a:defRPr sz="1000"/>
            </a:pPr>
            <a:r>
              <a:t>Zero-Data Cellular Broadcast: Automated offline SMS routing (HELP &lt;Pincode&gt; to 1078) gives shelter routes without internet.</a:t>
            </a:r>
          </a:p>
          <a:p>
            <a:pPr algn="l" marL="316844" indent="-158422" lvl="1">
              <a:lnSpc>
                <a:spcPts val="2100"/>
              </a:lnSpc>
              <a:buFont typeface="Arial"/>
              <a:buChar char="•"/>
              <a:defRPr sz="1000"/>
            </a:pPr>
            <a:r>
              <a:t>1-Click Command Center with pre-formatted public alerts, district collector memos, and real-time NDRF resource tracking.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995465" y="1942898"/>
            <a:ext cx="8366760" cy="548640"/>
            <a:chOff x="0" y="0"/>
            <a:chExt cx="1115568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148" y="0"/>
                    <a:pt x="11155680" y="65532"/>
                    <a:pt x="11155680" y="146304"/>
                  </a:cubicBezTo>
                  <a:lnTo>
                    <a:pt x="11155680" y="585216"/>
                  </a:lnTo>
                  <a:cubicBezTo>
                    <a:pt x="11155680" y="665988"/>
                    <a:pt x="11090148" y="731520"/>
                    <a:pt x="110093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995465" y="1942898"/>
            <a:ext cx="8366760" cy="548640"/>
            <a:chOff x="0" y="0"/>
            <a:chExt cx="111556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1155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Decision Tree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192" y="287464"/>
            <a:ext cx="2360295" cy="878967"/>
            <a:chOff x="0" y="0"/>
            <a:chExt cx="3147060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7060" cy="1171956"/>
            </a:xfrm>
            <a:custGeom>
              <a:avLst/>
              <a:gdLst/>
              <a:ahLst/>
              <a:cxnLst/>
              <a:rect r="r" b="b" t="t" l="l"/>
              <a:pathLst>
                <a:path h="1171956" w="3147060">
                  <a:moveTo>
                    <a:pt x="0" y="585978"/>
                  </a:moveTo>
                  <a:cubicBezTo>
                    <a:pt x="0" y="262382"/>
                    <a:pt x="704469" y="0"/>
                    <a:pt x="1573530" y="0"/>
                  </a:cubicBezTo>
                  <a:cubicBezTo>
                    <a:pt x="2442591" y="0"/>
                    <a:pt x="3147060" y="262382"/>
                    <a:pt x="3147060" y="585978"/>
                  </a:cubicBezTo>
                  <a:cubicBezTo>
                    <a:pt x="3147060" y="909574"/>
                    <a:pt x="2442591" y="1171956"/>
                    <a:pt x="1573530" y="1171956"/>
                  </a:cubicBezTo>
                  <a:cubicBezTo>
                    <a:pt x="704469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301752"/>
            <a:ext cx="2331720" cy="850392"/>
            <a:chOff x="0" y="0"/>
            <a:chExt cx="310896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089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11" id="11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11480" y="1645920"/>
            <a:ext cx="17419320" cy="548640"/>
            <a:chOff x="0" y="0"/>
            <a:chExt cx="232257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3079456" y="0"/>
                  </a:lnTo>
                  <a:cubicBezTo>
                    <a:pt x="23160228" y="0"/>
                    <a:pt x="23225761" y="65532"/>
                    <a:pt x="23225761" y="146304"/>
                  </a:cubicBezTo>
                  <a:lnTo>
                    <a:pt x="23225761" y="585216"/>
                  </a:lnTo>
                  <a:cubicBezTo>
                    <a:pt x="23225761" y="665988"/>
                    <a:pt x="23160228" y="731520"/>
                    <a:pt x="2307945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11480" y="1645920"/>
            <a:ext cx="17419320" cy="548640"/>
            <a:chOff x="0" y="0"/>
            <a:chExt cx="232257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225761" cy="731520"/>
            </a:xfrm>
            <a:custGeom>
              <a:avLst/>
              <a:gdLst/>
              <a:ahLst/>
              <a:cxnLst/>
              <a:rect r="r" b="b" t="t" l="l"/>
              <a:pathLst>
                <a:path h="731520" w="23225761">
                  <a:moveTo>
                    <a:pt x="0" y="0"/>
                  </a:moveTo>
                  <a:lnTo>
                    <a:pt x="23225761" y="0"/>
                  </a:lnTo>
                  <a:lnTo>
                    <a:pt x="232257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649" r="0" b="-5686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3225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Satellite Pixel to Fire Engine on the Road — Tracked End-to-End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80060" y="2343150"/>
            <a:ext cx="1700784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958" indent="-228479" lvl="1">
              <a:lnSpc>
                <a:spcPts val="3029"/>
              </a:lnSpc>
              <a:buFont typeface="Arial"/>
              <a:buChar char="•"/>
            </a:pPr>
            <a:r>
              <a:t>Every incident delivers actionable intelligence: fire classification, danger level, population at risk, and deployed NDRF assets.</a:t>
            </a:r>
          </a:p>
          <a:p>
            <a:pPr algn="l" marL="456958" indent="-228479" lvl="1">
              <a:lnSpc>
                <a:spcPts val="3029"/>
              </a:lnSpc>
              <a:buFont typeface="Arial"/>
              <a:buChar char="•"/>
            </a:pPr>
            <a:r>
              <a:t>Operational Example: Angul Industrial Fire — 82K population at risk, 3 NDRF teams deployed, Brahmani bridge evacuation corridor kept clear.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11480" y="4251960"/>
            <a:ext cx="5577840" cy="548640"/>
            <a:chOff x="0" y="0"/>
            <a:chExt cx="74371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F6B3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11480" y="4251960"/>
            <a:ext cx="5577840" cy="548640"/>
            <a:chOff x="0" y="0"/>
            <a:chExt cx="74371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11480" y="4937760"/>
            <a:ext cx="5577840" cy="3771900"/>
            <a:chOff x="0" y="0"/>
            <a:chExt cx="7437120" cy="502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58368" y="5095875"/>
            <a:ext cx="5084064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2" indent="-230741" lvl="1">
              <a:lnSpc>
                <a:spcPts val="3059"/>
              </a:lnSpc>
              <a:buFont typeface="Arial"/>
              <a:buChar char="•"/>
            </a:pPr>
            <a:r>
              <a:t>Sub-10 minute emergency response time: 1-tap SOS triage links directly to nearest deployed NDRF battalion with live ETA.</a:t>
            </a:r>
          </a:p>
          <a:p>
            <a:pPr algn="l" marL="461482" indent="-230741" lvl="1">
              <a:lnSpc>
                <a:spcPts val="3059"/>
              </a:lnSpc>
              <a:buFont typeface="Arial"/>
              <a:buChar char="•"/>
            </a:pPr>
            <a:r>
              <a:t>Vernacular accessibility: Full citizen services in Hindi, Odia, and English ensures rural communities are guided safely.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332220" y="4251960"/>
            <a:ext cx="5577840" cy="548640"/>
            <a:chOff x="0" y="0"/>
            <a:chExt cx="74371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32220" y="4251960"/>
            <a:ext cx="5577840" cy="548640"/>
            <a:chOff x="0" y="0"/>
            <a:chExt cx="74371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32220" y="4937760"/>
            <a:ext cx="5577840" cy="3771900"/>
            <a:chOff x="0" y="0"/>
            <a:chExt cx="7437120" cy="502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579108" y="5086350"/>
            <a:ext cx="508406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t>Saves millions in emergency deployment costs by filtering out false alarms and licensed industrial flares.</a:t>
            </a:r>
          </a:p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t>Zero hardware capex for government agencies: Runs purely on NASA satellite passes and open infrastructure.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252960" y="4251960"/>
            <a:ext cx="5577840" cy="548640"/>
            <a:chOff x="0" y="0"/>
            <a:chExt cx="74371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290816" y="0"/>
                  </a:lnTo>
                  <a:cubicBezTo>
                    <a:pt x="7371588" y="0"/>
                    <a:pt x="7437120" y="65532"/>
                    <a:pt x="7437120" y="146304"/>
                  </a:cubicBezTo>
                  <a:lnTo>
                    <a:pt x="7437120" y="585216"/>
                  </a:lnTo>
                  <a:cubicBezTo>
                    <a:pt x="7437120" y="665988"/>
                    <a:pt x="7371588" y="731520"/>
                    <a:pt x="729081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252960" y="4251960"/>
            <a:ext cx="5577840" cy="548640"/>
            <a:chOff x="0" y="0"/>
            <a:chExt cx="74371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52960" y="4937760"/>
            <a:ext cx="5577840" cy="3771900"/>
            <a:chOff x="0" y="0"/>
            <a:chExt cx="7437120" cy="502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37120" cy="5029200"/>
            </a:xfrm>
            <a:custGeom>
              <a:avLst/>
              <a:gdLst/>
              <a:ahLst/>
              <a:cxnLst/>
              <a:rect r="r" b="b" t="t" l="l"/>
              <a:pathLst>
                <a:path h="5029200" w="7437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327392" y="0"/>
                  </a:lnTo>
                  <a:cubicBezTo>
                    <a:pt x="7387972" y="0"/>
                    <a:pt x="7437120" y="49149"/>
                    <a:pt x="7437120" y="109728"/>
                  </a:cubicBezTo>
                  <a:lnTo>
                    <a:pt x="7437120" y="4919472"/>
                  </a:lnTo>
                  <a:cubicBezTo>
                    <a:pt x="7437120" y="4980051"/>
                    <a:pt x="7387972" y="5029200"/>
                    <a:pt x="7327392" y="5029200"/>
                  </a:cubicBezTo>
                  <a:lnTo>
                    <a:pt x="109728" y="5029200"/>
                  </a:lnTo>
                  <a:cubicBezTo>
                    <a:pt x="49149" y="5029200"/>
                    <a:pt x="0" y="4980051"/>
                    <a:pt x="0" y="4919472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499848" y="5086350"/>
            <a:ext cx="508406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t>Rapid wildfire containment in critical ecological reserves (Similipal &amp; Malkangiri) limits forest and wildlife devastation.</a:t>
            </a:r>
          </a:p>
          <a:p>
            <a:pPr algn="l" marL="515773" indent="-257887" lvl="1">
              <a:lnSpc>
                <a:spcPts val="3419"/>
              </a:lnSpc>
              <a:buFont typeface="Arial"/>
              <a:buChar char="•"/>
            </a:pPr>
            <a:r>
              <a:t>Crop-burning tracking across Punjab &amp; Haryana feeds CAQM action, directly combating North Indian winter smog.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77340" y="5494786"/>
            <a:ext cx="2886075" cy="2886075"/>
            <a:chOff x="0" y="0"/>
            <a:chExt cx="3848100" cy="38481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481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848100"/>
                  </a:lnTo>
                  <a:lnTo>
                    <a:pt x="0" y="384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2621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878127" y="5143500"/>
            <a:ext cx="2486025" cy="2819400"/>
            <a:chOff x="0" y="0"/>
            <a:chExt cx="3314700" cy="375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14700" cy="3759200"/>
            </a:xfrm>
            <a:custGeom>
              <a:avLst/>
              <a:gdLst/>
              <a:ahLst/>
              <a:cxnLst/>
              <a:rect r="r" b="b" t="t" l="l"/>
              <a:pathLst>
                <a:path h="37592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3759200"/>
                  </a:lnTo>
                  <a:lnTo>
                    <a:pt x="0" y="375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9439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098486" y="5143500"/>
            <a:ext cx="3219450" cy="2971800"/>
            <a:chOff x="0" y="0"/>
            <a:chExt cx="4292600" cy="3962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92600" cy="3962400"/>
            </a:xfrm>
            <a:custGeom>
              <a:avLst/>
              <a:gdLst/>
              <a:ahLst/>
              <a:cxnLst/>
              <a:rect r="r" b="b" t="t" l="l"/>
              <a:pathLst>
                <a:path h="3962400" w="4292600">
                  <a:moveTo>
                    <a:pt x="0" y="0"/>
                  </a:moveTo>
                  <a:lnTo>
                    <a:pt x="4292600" y="0"/>
                  </a:lnTo>
                  <a:lnTo>
                    <a:pt x="4292600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21999"/>
              </a:blip>
              <a:stretch>
                <a:fillRect l="0" t="0" r="0" b="-833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7192" y="287464"/>
            <a:ext cx="2360295" cy="878967"/>
            <a:chOff x="0" y="0"/>
            <a:chExt cx="3147060" cy="11719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7060" cy="1171956"/>
            </a:xfrm>
            <a:custGeom>
              <a:avLst/>
              <a:gdLst/>
              <a:ahLst/>
              <a:cxnLst/>
              <a:rect r="r" b="b" t="t" l="l"/>
              <a:pathLst>
                <a:path h="1171956" w="3147060">
                  <a:moveTo>
                    <a:pt x="0" y="585978"/>
                  </a:moveTo>
                  <a:cubicBezTo>
                    <a:pt x="0" y="262382"/>
                    <a:pt x="704469" y="0"/>
                    <a:pt x="1573530" y="0"/>
                  </a:cubicBezTo>
                  <a:cubicBezTo>
                    <a:pt x="2442591" y="0"/>
                    <a:pt x="3147060" y="262382"/>
                    <a:pt x="3147060" y="585978"/>
                  </a:cubicBezTo>
                  <a:cubicBezTo>
                    <a:pt x="3147060" y="909574"/>
                    <a:pt x="2442591" y="1171956"/>
                    <a:pt x="1573530" y="1171956"/>
                  </a:cubicBezTo>
                  <a:cubicBezTo>
                    <a:pt x="704469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1F3A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11480" y="301752"/>
            <a:ext cx="2331720" cy="850392"/>
            <a:chOff x="0" y="0"/>
            <a:chExt cx="3108960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8960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6" r="0" b="-34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108960" cy="1181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AeroThermal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94560" y="205740"/>
            <a:ext cx="13578840" cy="1097280"/>
            <a:chOff x="0" y="0"/>
            <a:chExt cx="1810512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0512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070C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27780" y="164592"/>
            <a:ext cx="1440180" cy="1261872"/>
            <a:chOff x="0" y="0"/>
            <a:chExt cx="1920240" cy="1682496"/>
          </a:xfrm>
        </p:grpSpPr>
        <p:sp>
          <p:nvSpPr>
            <p:cNvPr name="Freeform 11" id="11" descr="/home/claude/tekathon_logo.png"/>
            <p:cNvSpPr/>
            <p:nvPr/>
          </p:nvSpPr>
          <p:spPr>
            <a:xfrm flipH="false" flipV="false" rot="0">
              <a:off x="0" y="0"/>
              <a:ext cx="19202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682496"/>
                  </a:lnTo>
                  <a:lnTo>
                    <a:pt x="0" y="1682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3" r="0" b="-103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3720">
            <a:off x="401945" y="1394270"/>
            <a:ext cx="17479528" cy="0"/>
          </a:xfrm>
          <a:prstGeom prst="line">
            <a:avLst/>
          </a:prstGeom>
          <a:ln cap="rnd" w="9525">
            <a:solidFill>
              <a:srgbClr val="D9DE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11480" y="1714500"/>
            <a:ext cx="10424160" cy="548640"/>
            <a:chOff x="0" y="0"/>
            <a:chExt cx="138988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3752576" y="0"/>
                  </a:lnTo>
                  <a:cubicBezTo>
                    <a:pt x="13833348" y="0"/>
                    <a:pt x="13898880" y="65532"/>
                    <a:pt x="13898880" y="146304"/>
                  </a:cubicBezTo>
                  <a:lnTo>
                    <a:pt x="13898880" y="585216"/>
                  </a:lnTo>
                  <a:cubicBezTo>
                    <a:pt x="13898880" y="665988"/>
                    <a:pt x="13833348" y="731520"/>
                    <a:pt x="13752576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1C3A5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11480" y="1714500"/>
            <a:ext cx="10424160" cy="548640"/>
            <a:chOff x="0" y="0"/>
            <a:chExt cx="138988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898880" cy="731520"/>
            </a:xfrm>
            <a:custGeom>
              <a:avLst/>
              <a:gdLst/>
              <a:ahLst/>
              <a:cxnLst/>
              <a:rect r="r" b="b" t="t" l="l"/>
              <a:pathLst>
                <a:path h="73152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8988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247120" y="1714500"/>
            <a:ext cx="6583680" cy="3154680"/>
            <a:chOff x="0" y="0"/>
            <a:chExt cx="8778240" cy="4206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7782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8778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631936" y="0"/>
                  </a:lnTo>
                  <a:cubicBezTo>
                    <a:pt x="8712708" y="0"/>
                    <a:pt x="8778240" y="65532"/>
                    <a:pt x="8778240" y="146304"/>
                  </a:cubicBezTo>
                  <a:lnTo>
                    <a:pt x="8778240" y="4059936"/>
                  </a:lnTo>
                  <a:cubicBezTo>
                    <a:pt x="8778240" y="4140708"/>
                    <a:pt x="8712708" y="4206240"/>
                    <a:pt x="8631936" y="4206240"/>
                  </a:cubicBezTo>
                  <a:lnTo>
                    <a:pt x="146304" y="4206240"/>
                  </a:lnTo>
                  <a:cubicBezTo>
                    <a:pt x="65532" y="4206240"/>
                    <a:pt x="0" y="4140708"/>
                    <a:pt x="0" y="405993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0" y="1988820"/>
            <a:ext cx="6035040" cy="548640"/>
            <a:chOff x="0" y="0"/>
            <a:chExt cx="80467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046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B6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PROTOTYPE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21440" y="2674620"/>
            <a:ext cx="6035040" cy="822960"/>
            <a:chOff x="0" y="0"/>
            <a:chExt cx="804672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04672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5" tooltip="https://sih-thermal-intel.vercel.app"/>
                </a:rPr>
                <a:t>sih-thermal-intel.vercel.app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21440" y="3566160"/>
            <a:ext cx="6035040" cy="1097280"/>
            <a:chOff x="0" y="0"/>
            <a:chExt cx="804672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6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04672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C9D3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Control Room, Fire Station &amp; Field Team views with 4 working demo scenarios.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37595" y="5133975"/>
            <a:ext cx="6602730" cy="2213610"/>
            <a:chOff x="0" y="0"/>
            <a:chExt cx="8803640" cy="2951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803640" cy="2951480"/>
            </a:xfrm>
            <a:custGeom>
              <a:avLst/>
              <a:gdLst/>
              <a:ahLst/>
              <a:cxnLst/>
              <a:rect r="r" b="b" t="t" l="l"/>
              <a:pathLst>
                <a:path h="2951480" w="88036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8656066" y="0"/>
                  </a:lnTo>
                  <a:cubicBezTo>
                    <a:pt x="8737600" y="0"/>
                    <a:pt x="8803640" y="66040"/>
                    <a:pt x="8803640" y="147574"/>
                  </a:cubicBezTo>
                  <a:lnTo>
                    <a:pt x="8803640" y="2803906"/>
                  </a:lnTo>
                  <a:cubicBezTo>
                    <a:pt x="8803640" y="2885440"/>
                    <a:pt x="8737600" y="2951480"/>
                    <a:pt x="8656066" y="2951480"/>
                  </a:cubicBezTo>
                  <a:lnTo>
                    <a:pt x="147574" y="2951480"/>
                  </a:lnTo>
                  <a:cubicBezTo>
                    <a:pt x="66040" y="2951480"/>
                    <a:pt x="0" y="2885440"/>
                    <a:pt x="0" y="2803906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D9DEE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521440" y="5417820"/>
            <a:ext cx="6035040" cy="548640"/>
            <a:chOff x="0" y="0"/>
            <a:chExt cx="80467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046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Team: AeroThermal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21440" y="5966460"/>
            <a:ext cx="6035040" cy="1234440"/>
            <a:chOff x="0" y="0"/>
            <a:chExt cx="804672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46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804672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 ID: SIH26162</a:t>
              </a: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5A64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Agency Partner: NTRO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3364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0" y="9601200"/>
            <a:ext cx="18287543" cy="685800"/>
            <a:chOff x="0" y="0"/>
            <a:chExt cx="2438339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438339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@TEKATHON-5.0- Template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327423" y="9601200"/>
            <a:ext cx="617220" cy="685800"/>
            <a:chOff x="0" y="0"/>
            <a:chExt cx="82296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0" cy="914400"/>
            </a:xfrm>
            <a:custGeom>
              <a:avLst/>
              <a:gdLst/>
              <a:ahLst/>
              <a:cxnLst/>
              <a:rect r="r" b="b" t="t" l="l"/>
              <a:pathLst>
                <a:path h="91440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t="0" r="-9255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229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01375" y="2626995"/>
            <a:ext cx="10044112" cy="652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  <a:spcBef>
                <a:spcPct val="0"/>
              </a:spcBef>
              <a:defRPr sz="900" b="1"/>
            </a:pPr>
            <a:r>
              <a:t>1. Live Deployed Prototype &amp; Codebase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Live Web Platform: https://sih-thermal-intel.vercel.app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GitHub Repository: https://github.com/PaliiiXRAY/sih-thermal-intel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</a:p>
          <a:p>
            <a:pPr algn="l">
              <a:lnSpc>
                <a:spcPts val="2561"/>
              </a:lnSpc>
              <a:spcBef>
                <a:spcPct val="0"/>
              </a:spcBef>
              <a:defRPr sz="900" b="1"/>
            </a:pPr>
            <a:r>
              <a:t>2. NASA FIRMS (Primary Satellite Telemetry)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NASA FIRMS Official Portal: https://firms.modaps.eosdis.nasa.gov/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Active Fire Attributes (MODIS 1km &amp; VIIRS 375m I-band)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https://www.earthdata.nasa.gov/data/tools/firms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</a:p>
          <a:p>
            <a:pPr algn="l">
              <a:lnSpc>
                <a:spcPts val="2561"/>
              </a:lnSpc>
              <a:spcBef>
                <a:spcPct val="0"/>
              </a:spcBef>
              <a:defRPr sz="900" b="1"/>
            </a:pPr>
            <a:r>
              <a:t>3. Surface Meteorology &amp; Infrastructure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OpenStreetMap Overpass API: https://dev.overpass-api.de/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Open-Meteo High-Resolution Weather Model: https://open-meteo.com/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</a:p>
          <a:p>
            <a:pPr algn="l">
              <a:lnSpc>
                <a:spcPts val="2561"/>
              </a:lnSpc>
              <a:spcBef>
                <a:spcPct val="0"/>
              </a:spcBef>
              <a:defRPr sz="900" b="1"/>
            </a:pPr>
            <a:r>
              <a:t>4. Disaster Response Frameworks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NDRF &amp; NDMA Standard Operating Procedures for Wildfire &amp; Industrial Hazards</a:t>
            </a:r>
          </a:p>
          <a:p>
            <a:pPr algn="l">
              <a:lnSpc>
                <a:spcPts val="2561"/>
              </a:lnSpc>
              <a:spcBef>
                <a:spcPct val="0"/>
              </a:spcBef>
              <a:defRPr sz="900"/>
            </a:pPr>
            <a:r>
              <a:t>National Disaster Management Authority (NDMA): https://ndma.gov.in/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1" tooltip="https://firms.modaps.eosdis.nasa.gov"/>
              </a:rPr>
              <a:t>https://leafletjs.com/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2" tooltip="https://firms.modaps.eosdis.nasa.gov"/>
              </a:rPr>
              <a:t>5. Supporting Context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3" tooltip="https://firms.modaps.eosdis.nasa.gov"/>
              </a:rPr>
              <a:t>NASA LANCE (Land, Atmosphere Near real-time Capability for EO)</a:t>
            </a:r>
          </a:p>
          <a:p>
            <a:pPr algn="l">
              <a:lnSpc>
                <a:spcPts val="2561"/>
              </a:lnSpc>
              <a:spcBef>
                <a:spcPct val="0"/>
              </a:spcBef>
            </a:pPr>
            <a:r>
              <a:rPr lang="en-US" b="true" sz="2134" u="sng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24" tooltip="https://firms.modaps.eosdis.nasa.gov"/>
              </a:rPr>
              <a:t>https://www.earthdata.nasa.gov/data/tools/firms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DAHUP5XetBc</dc:identifier>
  <dcterms:modified xsi:type="dcterms:W3CDTF">2011-08-01T06:04:30Z</dcterms:modified>
  <cp:revision>1</cp:revision>
  <dc:title>AeroThermal_SIH26162_v2.pptx</dc:title>
</cp:coreProperties>
</file>